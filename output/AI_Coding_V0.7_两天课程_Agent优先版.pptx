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1a6bee429724c1d" /><Relationship Type="http://schemas.openxmlformats.org/officeDocument/2006/relationships/extended-properties" Target="/docProps/app.xml" Id="R1c24c659b2a74af5" /><Relationship Type="http://schemas.openxmlformats.org/officeDocument/2006/relationships/officeDocument" Target="/ppt/presentation.xml" Id="Rb56c076a98ca404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6786d30a70d41a7"/>
  </p:sldMasterIdLst>
  <p:notesMasterIdLst>
    <p:notesMasterId xmlns:r="http://schemas.openxmlformats.org/officeDocument/2006/relationships" r:id="R21b93b891e1e4b18"/>
  </p:notesMasterIdLst>
  <p:sldIdLst>
    <p:sldId xmlns:r="http://schemas.openxmlformats.org/officeDocument/2006/relationships" id="256" r:id="R864bd422b1ee4534"/>
    <p:sldId xmlns:r="http://schemas.openxmlformats.org/officeDocument/2006/relationships" id="257" r:id="Rfc21d1fbf98e43d0"/>
    <p:sldId xmlns:r="http://schemas.openxmlformats.org/officeDocument/2006/relationships" id="258" r:id="R12e922c59d94476a"/>
    <p:sldId xmlns:r="http://schemas.openxmlformats.org/officeDocument/2006/relationships" id="259" r:id="R65d9271beae84815"/>
    <p:sldId xmlns:r="http://schemas.openxmlformats.org/officeDocument/2006/relationships" id="260" r:id="R7eecb7c88544447b"/>
    <p:sldId xmlns:r="http://schemas.openxmlformats.org/officeDocument/2006/relationships" id="261" r:id="R8cec287956a24308"/>
    <p:sldId xmlns:r="http://schemas.openxmlformats.org/officeDocument/2006/relationships" id="262" r:id="R642d1454db77428e"/>
    <p:sldId xmlns:r="http://schemas.openxmlformats.org/officeDocument/2006/relationships" id="263" r:id="Rc9e624825f524a15"/>
    <p:sldId xmlns:r="http://schemas.openxmlformats.org/officeDocument/2006/relationships" id="264" r:id="R5d44f09229244a84"/>
    <p:sldId xmlns:r="http://schemas.openxmlformats.org/officeDocument/2006/relationships" id="265" r:id="R042b1c044d824511"/>
    <p:sldId xmlns:r="http://schemas.openxmlformats.org/officeDocument/2006/relationships" id="266" r:id="R2ff61cd22ecb41c7"/>
    <p:sldId xmlns:r="http://schemas.openxmlformats.org/officeDocument/2006/relationships" id="267" r:id="Rea66166977a44108"/>
    <p:sldId xmlns:r="http://schemas.openxmlformats.org/officeDocument/2006/relationships" id="268" r:id="Rba541f850b6a4f50"/>
    <p:sldId xmlns:r="http://schemas.openxmlformats.org/officeDocument/2006/relationships" id="269" r:id="R2ed2a3b62cce45dc"/>
    <p:sldId xmlns:r="http://schemas.openxmlformats.org/officeDocument/2006/relationships" id="270" r:id="R9178b74b383c4370"/>
    <p:sldId xmlns:r="http://schemas.openxmlformats.org/officeDocument/2006/relationships" id="271" r:id="Rac610808b8b94b0e"/>
    <p:sldId xmlns:r="http://schemas.openxmlformats.org/officeDocument/2006/relationships" id="272" r:id="R07b3544eb7134ab3"/>
    <p:sldId xmlns:r="http://schemas.openxmlformats.org/officeDocument/2006/relationships" id="273" r:id="Rec35882567c94e76"/>
    <p:sldId xmlns:r="http://schemas.openxmlformats.org/officeDocument/2006/relationships" id="274" r:id="R5c04d8ae0bc04572"/>
    <p:sldId xmlns:r="http://schemas.openxmlformats.org/officeDocument/2006/relationships" id="275" r:id="Rf9b51d16e1674028"/>
    <p:sldId xmlns:r="http://schemas.openxmlformats.org/officeDocument/2006/relationships" id="276" r:id="R63e00be8f6ec47dc"/>
    <p:sldId xmlns:r="http://schemas.openxmlformats.org/officeDocument/2006/relationships" id="277" r:id="Rbfb24bae6f464bd4"/>
    <p:sldId xmlns:r="http://schemas.openxmlformats.org/officeDocument/2006/relationships" id="278" r:id="Rb83073d847e34d5f"/>
    <p:sldId xmlns:r="http://schemas.openxmlformats.org/officeDocument/2006/relationships" id="279" r:id="Rdd9170b94d914131"/>
    <p:sldId xmlns:r="http://schemas.openxmlformats.org/officeDocument/2006/relationships" id="280" r:id="R4093395f935e4637"/>
    <p:sldId xmlns:r="http://schemas.openxmlformats.org/officeDocument/2006/relationships" id="281" r:id="Rf914b6bb1ea1416b"/>
    <p:sldId xmlns:r="http://schemas.openxmlformats.org/officeDocument/2006/relationships" id="282" r:id="Raf00d6f6e29a433f"/>
    <p:sldId xmlns:r="http://schemas.openxmlformats.org/officeDocument/2006/relationships" id="283" r:id="R67fde7d6f3034dd2"/>
    <p:sldId xmlns:r="http://schemas.openxmlformats.org/officeDocument/2006/relationships" id="284" r:id="Re7de29e295254279"/>
    <p:sldId xmlns:r="http://schemas.openxmlformats.org/officeDocument/2006/relationships" id="285" r:id="Rdda52b99c7de42a8"/>
    <p:sldId xmlns:r="http://schemas.openxmlformats.org/officeDocument/2006/relationships" id="286" r:id="R2a3d1054f33c4488"/>
    <p:sldId xmlns:r="http://schemas.openxmlformats.org/officeDocument/2006/relationships" id="287" r:id="R987645e1e3a1439d"/>
    <p:sldId xmlns:r="http://schemas.openxmlformats.org/officeDocument/2006/relationships" id="288" r:id="Rc11808bfdffd42ac"/>
    <p:sldId xmlns:r="http://schemas.openxmlformats.org/officeDocument/2006/relationships" id="289" r:id="R3761f11a671b4f87"/>
    <p:sldId xmlns:r="http://schemas.openxmlformats.org/officeDocument/2006/relationships" id="290" r:id="R2c87464c628a497d"/>
    <p:sldId xmlns:r="http://schemas.openxmlformats.org/officeDocument/2006/relationships" id="291" r:id="R406ddd55e78c4e53"/>
    <p:sldId xmlns:r="http://schemas.openxmlformats.org/officeDocument/2006/relationships" id="292" r:id="R437cb47275744f14"/>
    <p:sldId xmlns:r="http://schemas.openxmlformats.org/officeDocument/2006/relationships" id="293" r:id="R6c08fd0ab6414c31"/>
    <p:sldId xmlns:r="http://schemas.openxmlformats.org/officeDocument/2006/relationships" id="294" r:id="Rbe5af9f2554a48ad"/>
    <p:sldId xmlns:r="http://schemas.openxmlformats.org/officeDocument/2006/relationships" id="295" r:id="R112c094bd0174716"/>
    <p:sldId xmlns:r="http://schemas.openxmlformats.org/officeDocument/2006/relationships" id="296" r:id="R024b4432f74b43f9"/>
    <p:sldId xmlns:r="http://schemas.openxmlformats.org/officeDocument/2006/relationships" id="297" r:id="Rd7456232f36e491b"/>
    <p:sldId xmlns:r="http://schemas.openxmlformats.org/officeDocument/2006/relationships" id="298" r:id="R4c4eedbe78d64033"/>
    <p:sldId xmlns:r="http://schemas.openxmlformats.org/officeDocument/2006/relationships" id="299" r:id="R76d07e4586ee46d8"/>
    <p:sldId xmlns:r="http://schemas.openxmlformats.org/officeDocument/2006/relationships" id="300" r:id="Ra9e532abf1414308"/>
    <p:sldId xmlns:r="http://schemas.openxmlformats.org/officeDocument/2006/relationships" id="301" r:id="Reffbf99c75244168"/>
    <p:sldId xmlns:r="http://schemas.openxmlformats.org/officeDocument/2006/relationships" id="302" r:id="R82cdabef02a54c15"/>
    <p:sldId xmlns:r="http://schemas.openxmlformats.org/officeDocument/2006/relationships" id="303" r:id="R45e0f5fb062d4baa"/>
    <p:sldId xmlns:r="http://schemas.openxmlformats.org/officeDocument/2006/relationships" id="304" r:id="R6f294a66b6ef4374"/>
    <p:sldId xmlns:r="http://schemas.openxmlformats.org/officeDocument/2006/relationships" id="305" r:id="R2c48674e097241d3"/>
    <p:sldId xmlns:r="http://schemas.openxmlformats.org/officeDocument/2006/relationships" id="306" r:id="R3eeafd399efe428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7e92d37f8f34683" /><Relationship Type="http://schemas.openxmlformats.org/officeDocument/2006/relationships/slideMaster" Target="/ppt/slideMasters/slideMaster1.xml" Id="R66786d30a70d41a7" /><Relationship Type="http://schemas.openxmlformats.org/officeDocument/2006/relationships/notesMaster" Target="/ppt/notesMasters/notesMaster1.xml" Id="R21b93b891e1e4b18" /><Relationship Type="http://schemas.openxmlformats.org/officeDocument/2006/relationships/presProps" Target="/ppt/presProps.xml" Id="Radbc1e9308544cd2" /><Relationship Type="http://schemas.openxmlformats.org/officeDocument/2006/relationships/tableStyles" Target="/ppt/tableStyles.xml" Id="R17ab64a31a48421d" /><Relationship Type="http://schemas.openxmlformats.org/officeDocument/2006/relationships/slide" Target="/ppt/slides/slide1.xml" Id="R864bd422b1ee4534" /><Relationship Type="http://schemas.openxmlformats.org/officeDocument/2006/relationships/slide" Target="/ppt/slides/slide2.xml" Id="Rfc21d1fbf98e43d0" /><Relationship Type="http://schemas.openxmlformats.org/officeDocument/2006/relationships/slide" Target="/ppt/slides/slide3.xml" Id="R12e922c59d94476a" /><Relationship Type="http://schemas.openxmlformats.org/officeDocument/2006/relationships/slide" Target="/ppt/slides/slide4.xml" Id="R65d9271beae84815" /><Relationship Type="http://schemas.openxmlformats.org/officeDocument/2006/relationships/slide" Target="/ppt/slides/slide5.xml" Id="R7eecb7c88544447b" /><Relationship Type="http://schemas.openxmlformats.org/officeDocument/2006/relationships/slide" Target="/ppt/slides/slide6.xml" Id="R8cec287956a24308" /><Relationship Type="http://schemas.openxmlformats.org/officeDocument/2006/relationships/slide" Target="/ppt/slides/slide7.xml" Id="R642d1454db77428e" /><Relationship Type="http://schemas.openxmlformats.org/officeDocument/2006/relationships/slide" Target="/ppt/slides/slide8.xml" Id="Rc9e624825f524a15" /><Relationship Type="http://schemas.openxmlformats.org/officeDocument/2006/relationships/slide" Target="/ppt/slides/slide9.xml" Id="R5d44f09229244a84" /><Relationship Type="http://schemas.openxmlformats.org/officeDocument/2006/relationships/slide" Target="/ppt/slides/slide10.xml" Id="R042b1c044d824511" /><Relationship Type="http://schemas.openxmlformats.org/officeDocument/2006/relationships/slide" Target="/ppt/slides/slide11.xml" Id="R2ff61cd22ecb41c7" /><Relationship Type="http://schemas.openxmlformats.org/officeDocument/2006/relationships/slide" Target="/ppt/slides/slide12.xml" Id="Rea66166977a44108" /><Relationship Type="http://schemas.openxmlformats.org/officeDocument/2006/relationships/slide" Target="/ppt/slides/slide13.xml" Id="Rba541f850b6a4f50" /><Relationship Type="http://schemas.openxmlformats.org/officeDocument/2006/relationships/slide" Target="/ppt/slides/slide14.xml" Id="R2ed2a3b62cce45dc" /><Relationship Type="http://schemas.openxmlformats.org/officeDocument/2006/relationships/slide" Target="/ppt/slides/slide15.xml" Id="R9178b74b383c4370" /><Relationship Type="http://schemas.openxmlformats.org/officeDocument/2006/relationships/slide" Target="/ppt/slides/slide16.xml" Id="Rac610808b8b94b0e" /><Relationship Type="http://schemas.openxmlformats.org/officeDocument/2006/relationships/slide" Target="/ppt/slides/slide17.xml" Id="R07b3544eb7134ab3" /><Relationship Type="http://schemas.openxmlformats.org/officeDocument/2006/relationships/slide" Target="/ppt/slides/slide18.xml" Id="Rec35882567c94e76" /><Relationship Type="http://schemas.openxmlformats.org/officeDocument/2006/relationships/slide" Target="/ppt/slides/slide19.xml" Id="R5c04d8ae0bc04572" /><Relationship Type="http://schemas.openxmlformats.org/officeDocument/2006/relationships/slide" Target="/ppt/slides/slide20.xml" Id="Rf9b51d16e1674028" /><Relationship Type="http://schemas.openxmlformats.org/officeDocument/2006/relationships/slide" Target="/ppt/slides/slide21.xml" Id="R63e00be8f6ec47dc" /><Relationship Type="http://schemas.openxmlformats.org/officeDocument/2006/relationships/slide" Target="/ppt/slides/slide22.xml" Id="Rbfb24bae6f464bd4" /><Relationship Type="http://schemas.openxmlformats.org/officeDocument/2006/relationships/slide" Target="/ppt/slides/slide23.xml" Id="Rb83073d847e34d5f" /><Relationship Type="http://schemas.openxmlformats.org/officeDocument/2006/relationships/slide" Target="/ppt/slides/slide24.xml" Id="Rdd9170b94d914131" /><Relationship Type="http://schemas.openxmlformats.org/officeDocument/2006/relationships/slide" Target="/ppt/slides/slide25.xml" Id="R4093395f935e4637" /><Relationship Type="http://schemas.openxmlformats.org/officeDocument/2006/relationships/slide" Target="/ppt/slides/slide26.xml" Id="Rf914b6bb1ea1416b" /><Relationship Type="http://schemas.openxmlformats.org/officeDocument/2006/relationships/slide" Target="/ppt/slides/slide27.xml" Id="Raf00d6f6e29a433f" /><Relationship Type="http://schemas.openxmlformats.org/officeDocument/2006/relationships/slide" Target="/ppt/slides/slide28.xml" Id="R67fde7d6f3034dd2" /><Relationship Type="http://schemas.openxmlformats.org/officeDocument/2006/relationships/slide" Target="/ppt/slides/slide29.xml" Id="Re7de29e295254279" /><Relationship Type="http://schemas.openxmlformats.org/officeDocument/2006/relationships/slide" Target="/ppt/slides/slide30.xml" Id="Rdda52b99c7de42a8" /><Relationship Type="http://schemas.openxmlformats.org/officeDocument/2006/relationships/slide" Target="/ppt/slides/slide31.xml" Id="R2a3d1054f33c4488" /><Relationship Type="http://schemas.openxmlformats.org/officeDocument/2006/relationships/slide" Target="/ppt/slides/slide32.xml" Id="R987645e1e3a1439d" /><Relationship Type="http://schemas.openxmlformats.org/officeDocument/2006/relationships/slide" Target="/ppt/slides/slide33.xml" Id="Rc11808bfdffd42ac" /><Relationship Type="http://schemas.openxmlformats.org/officeDocument/2006/relationships/slide" Target="/ppt/slides/slide34.xml" Id="R3761f11a671b4f87" /><Relationship Type="http://schemas.openxmlformats.org/officeDocument/2006/relationships/slide" Target="/ppt/slides/slide35.xml" Id="R2c87464c628a497d" /><Relationship Type="http://schemas.openxmlformats.org/officeDocument/2006/relationships/slide" Target="/ppt/slides/slide36.xml" Id="R406ddd55e78c4e53" /><Relationship Type="http://schemas.openxmlformats.org/officeDocument/2006/relationships/slide" Target="/ppt/slides/slide37.xml" Id="R437cb47275744f14" /><Relationship Type="http://schemas.openxmlformats.org/officeDocument/2006/relationships/slide" Target="/ppt/slides/slide38.xml" Id="R6c08fd0ab6414c31" /><Relationship Type="http://schemas.openxmlformats.org/officeDocument/2006/relationships/slide" Target="/ppt/slides/slide39.xml" Id="Rbe5af9f2554a48ad" /><Relationship Type="http://schemas.openxmlformats.org/officeDocument/2006/relationships/slide" Target="/ppt/slides/slide40.xml" Id="R112c094bd0174716" /><Relationship Type="http://schemas.openxmlformats.org/officeDocument/2006/relationships/slide" Target="/ppt/slides/slide41.xml" Id="R024b4432f74b43f9" /><Relationship Type="http://schemas.openxmlformats.org/officeDocument/2006/relationships/slide" Target="/ppt/slides/slide42.xml" Id="Rd7456232f36e491b" /><Relationship Type="http://schemas.openxmlformats.org/officeDocument/2006/relationships/slide" Target="/ppt/slides/slide43.xml" Id="R4c4eedbe78d64033" /><Relationship Type="http://schemas.openxmlformats.org/officeDocument/2006/relationships/slide" Target="/ppt/slides/slide44.xml" Id="R76d07e4586ee46d8" /><Relationship Type="http://schemas.openxmlformats.org/officeDocument/2006/relationships/slide" Target="/ppt/slides/slide45.xml" Id="Ra9e532abf1414308" /><Relationship Type="http://schemas.openxmlformats.org/officeDocument/2006/relationships/slide" Target="/ppt/slides/slide46.xml" Id="Reffbf99c75244168" /><Relationship Type="http://schemas.openxmlformats.org/officeDocument/2006/relationships/slide" Target="/ppt/slides/slide47.xml" Id="R82cdabef02a54c15" /><Relationship Type="http://schemas.openxmlformats.org/officeDocument/2006/relationships/slide" Target="/ppt/slides/slide48.xml" Id="R45e0f5fb062d4baa" /><Relationship Type="http://schemas.openxmlformats.org/officeDocument/2006/relationships/slide" Target="/ppt/slides/slide49.xml" Id="R6f294a66b6ef4374" /><Relationship Type="http://schemas.openxmlformats.org/officeDocument/2006/relationships/slide" Target="/ppt/slides/slide50.xml" Id="R2c48674e097241d3" /><Relationship Type="http://schemas.openxmlformats.org/officeDocument/2006/relationships/slide" Target="/ppt/slides/slide51.xml" Id="R3eeafd399efe428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ac543171e68428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a3182f57b504f15" /><Relationship Type="http://schemas.openxmlformats.org/officeDocument/2006/relationships/notesMaster" Target="/ppt/notesMasters/notesMaster1.xml" Id="R2fc7f3c39726405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90b86f59a0e4df7" /><Relationship Type="http://schemas.openxmlformats.org/officeDocument/2006/relationships/notesMaster" Target="/ppt/notesMasters/notesMaster1.xml" Id="R0e084d54213d4a0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776affcd50a4a1f" /><Relationship Type="http://schemas.openxmlformats.org/officeDocument/2006/relationships/notesMaster" Target="/ppt/notesMasters/notesMaster1.xml" Id="Rf6623b68d4a0430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ee8bdfac34e4c46" /><Relationship Type="http://schemas.openxmlformats.org/officeDocument/2006/relationships/notesMaster" Target="/ppt/notesMasters/notesMaster1.xml" Id="Rd4e772d47a0948e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c4e1d5ad3c24794" /><Relationship Type="http://schemas.openxmlformats.org/officeDocument/2006/relationships/notesMaster" Target="/ppt/notesMasters/notesMaster1.xml" Id="Rd91db493ca684d1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51673a79a5e4b10" /><Relationship Type="http://schemas.openxmlformats.org/officeDocument/2006/relationships/notesMaster" Target="/ppt/notesMasters/notesMaster1.xml" Id="R11e31bf8a733454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e8d0f6b17304ea5" /><Relationship Type="http://schemas.openxmlformats.org/officeDocument/2006/relationships/notesMaster" Target="/ppt/notesMasters/notesMaster1.xml" Id="R0da776fdf9aa4af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8ad141728434eaf" /><Relationship Type="http://schemas.openxmlformats.org/officeDocument/2006/relationships/notesMaster" Target="/ppt/notesMasters/notesMaster1.xml" Id="Rc5cd59d59824497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758a8b73c78494f" /><Relationship Type="http://schemas.openxmlformats.org/officeDocument/2006/relationships/notesMaster" Target="/ppt/notesMasters/notesMaster1.xml" Id="R1f1c3927e9fe449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d1add6e87e9491b" /><Relationship Type="http://schemas.openxmlformats.org/officeDocument/2006/relationships/notesMaster" Target="/ppt/notesMasters/notesMaster1.xml" Id="Redac972632b64da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5e3bb24ad3540bc" /><Relationship Type="http://schemas.openxmlformats.org/officeDocument/2006/relationships/notesMaster" Target="/ppt/notesMasters/notesMaster1.xml" Id="R78de1f0cf99f49e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6c1c8bcaab04848" /><Relationship Type="http://schemas.openxmlformats.org/officeDocument/2006/relationships/notesMaster" Target="/ppt/notesMasters/notesMaster1.xml" Id="Re615ea7355e44c7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ebe134895824505" /><Relationship Type="http://schemas.openxmlformats.org/officeDocument/2006/relationships/notesMaster" Target="/ppt/notesMasters/notesMaster1.xml" Id="R3fa9f480aa21417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d9a31adc17c4d10" /><Relationship Type="http://schemas.openxmlformats.org/officeDocument/2006/relationships/notesMaster" Target="/ppt/notesMasters/notesMaster1.xml" Id="R4ae3b66bf9584af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89fef88fd88401a" /><Relationship Type="http://schemas.openxmlformats.org/officeDocument/2006/relationships/notesMaster" Target="/ppt/notesMasters/notesMaster1.xml" Id="R8948b6947b764ee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a7a86625769476f" /><Relationship Type="http://schemas.openxmlformats.org/officeDocument/2006/relationships/notesMaster" Target="/ppt/notesMasters/notesMaster1.xml" Id="R0db335ab491e4d1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c8e1394e8434481" /><Relationship Type="http://schemas.openxmlformats.org/officeDocument/2006/relationships/notesMaster" Target="/ppt/notesMasters/notesMaster1.xml" Id="R437acb98eeb844d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2ceba9258e845c9" /><Relationship Type="http://schemas.openxmlformats.org/officeDocument/2006/relationships/notesMaster" Target="/ppt/notesMasters/notesMaster1.xml" Id="Ra6c4fc11209048e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8d6ef8f70ed4d23" /><Relationship Type="http://schemas.openxmlformats.org/officeDocument/2006/relationships/notesMaster" Target="/ppt/notesMasters/notesMaster1.xml" Id="R3bf332e1c2f64db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727efd646384d73" /><Relationship Type="http://schemas.openxmlformats.org/officeDocument/2006/relationships/notesMaster" Target="/ppt/notesMasters/notesMaster1.xml" Id="Rb348bb96ae4149f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4c612730caac470f" /><Relationship Type="http://schemas.openxmlformats.org/officeDocument/2006/relationships/notesMaster" Target="/ppt/notesMasters/notesMaster1.xml" Id="R780ec3cb60e5450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88c010ff01044de1" /><Relationship Type="http://schemas.openxmlformats.org/officeDocument/2006/relationships/notesMaster" Target="/ppt/notesMasters/notesMaster1.xml" Id="R034cb92a6b0f4263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b07bd63578fc4788" /><Relationship Type="http://schemas.openxmlformats.org/officeDocument/2006/relationships/notesMaster" Target="/ppt/notesMasters/notesMaster1.xml" Id="R94f5c5a0a2b34588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ff429b3eb8d54361" /><Relationship Type="http://schemas.openxmlformats.org/officeDocument/2006/relationships/notesMaster" Target="/ppt/notesMasters/notesMaster1.xml" Id="Rc66cc9cbdd544f83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dedb8391e046454e" /><Relationship Type="http://schemas.openxmlformats.org/officeDocument/2006/relationships/notesMaster" Target="/ppt/notesMasters/notesMaster1.xml" Id="Rd5af4169592d462b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3c1e934118c44257" /><Relationship Type="http://schemas.openxmlformats.org/officeDocument/2006/relationships/notesMaster" Target="/ppt/notesMasters/notesMaster1.xml" Id="R82d0b08bcee04489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872f1df5d6644e82" /><Relationship Type="http://schemas.openxmlformats.org/officeDocument/2006/relationships/notesMaster" Target="/ppt/notesMasters/notesMaster1.xml" Id="R736171ae4cd74521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2ab3c678c48141d2" /><Relationship Type="http://schemas.openxmlformats.org/officeDocument/2006/relationships/notesMaster" Target="/ppt/notesMasters/notesMaster1.xml" Id="Rbf96dd26a0574ffc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d0a1901cec654d77" /><Relationship Type="http://schemas.openxmlformats.org/officeDocument/2006/relationships/notesMaster" Target="/ppt/notesMasters/notesMaster1.xml" Id="R90173be4a0104b31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7ef2515630ab44de" /><Relationship Type="http://schemas.openxmlformats.org/officeDocument/2006/relationships/notesMaster" Target="/ppt/notesMasters/notesMaster1.xml" Id="R764496c5c2dd4cb5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7224d17fa49a4efe" /><Relationship Type="http://schemas.openxmlformats.org/officeDocument/2006/relationships/notesMaster" Target="/ppt/notesMasters/notesMaster1.xml" Id="R92523ba75bfc490d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92fa09ae581e46f8" /><Relationship Type="http://schemas.openxmlformats.org/officeDocument/2006/relationships/notesMaster" Target="/ppt/notesMasters/notesMaster1.xml" Id="R4d8ef40055754e33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0c03b9d48bfb4c00" /><Relationship Type="http://schemas.openxmlformats.org/officeDocument/2006/relationships/notesMaster" Target="/ppt/notesMasters/notesMaster1.xml" Id="R8de25281bb43443c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293cf452dfbc47f8" /><Relationship Type="http://schemas.openxmlformats.org/officeDocument/2006/relationships/notesMaster" Target="/ppt/notesMasters/notesMaster1.xml" Id="R4a032a58b3294fed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3dbdca1109a94a56" /><Relationship Type="http://schemas.openxmlformats.org/officeDocument/2006/relationships/notesMaster" Target="/ppt/notesMasters/notesMaster1.xml" Id="R9168ac1194464ebb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d6767f6b8c344545" /><Relationship Type="http://schemas.openxmlformats.org/officeDocument/2006/relationships/notesMaster" Target="/ppt/notesMasters/notesMaster1.xml" Id="R56d22ce9ecb24e90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e3743cb4c94e4e58" /><Relationship Type="http://schemas.openxmlformats.org/officeDocument/2006/relationships/notesMaster" Target="/ppt/notesMasters/notesMaster1.xml" Id="R670be9f921384191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d4be8fc7b6e0450b" /><Relationship Type="http://schemas.openxmlformats.org/officeDocument/2006/relationships/notesMaster" Target="/ppt/notesMasters/notesMaster1.xml" Id="Rb44f4d3812da4418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97c415b2ea374732" /><Relationship Type="http://schemas.openxmlformats.org/officeDocument/2006/relationships/notesMaster" Target="/ppt/notesMasters/notesMaster1.xml" Id="Rb2ccd91a458c44d6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1fa1dd4cad254b21" /><Relationship Type="http://schemas.openxmlformats.org/officeDocument/2006/relationships/notesMaster" Target="/ppt/notesMasters/notesMaster1.xml" Id="R4754140abeba447f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6dade8207a52402f" /><Relationship Type="http://schemas.openxmlformats.org/officeDocument/2006/relationships/notesMaster" Target="/ppt/notesMasters/notesMaster1.xml" Id="R74a2d110fd0e4548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5731f73e60964575" /><Relationship Type="http://schemas.openxmlformats.org/officeDocument/2006/relationships/notesMaster" Target="/ppt/notesMasters/notesMaster1.xml" Id="Rbc3ff9ff241b423d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7873c01f311f4961" /><Relationship Type="http://schemas.openxmlformats.org/officeDocument/2006/relationships/notesMaster" Target="/ppt/notesMasters/notesMaster1.xml" Id="R22681ac8c2db4402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4aa399cf2ec4413b" /><Relationship Type="http://schemas.openxmlformats.org/officeDocument/2006/relationships/notesMaster" Target="/ppt/notesMasters/notesMaster1.xml" Id="R5437ff063fbd4064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0bf5dfce6f964f31" /><Relationship Type="http://schemas.openxmlformats.org/officeDocument/2006/relationships/notesMaster" Target="/ppt/notesMasters/notesMaster1.xml" Id="R51a4bb1984ea4b0c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93ad7b5520c744a6" /><Relationship Type="http://schemas.openxmlformats.org/officeDocument/2006/relationships/notesMaster" Target="/ppt/notesMasters/notesMaster1.xml" Id="Rc2a30442166b4ca9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83f0fef152ad45bf" /><Relationship Type="http://schemas.openxmlformats.org/officeDocument/2006/relationships/notesMaster" Target="/ppt/notesMasters/notesMaster1.xml" Id="R936c181d3d9841c6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8fb67d10511c4de3" /><Relationship Type="http://schemas.openxmlformats.org/officeDocument/2006/relationships/notesMaster" Target="/ppt/notesMasters/notesMaster1.xml" Id="R17c412a52e504d0f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7d107ab3ccdc4e90" /><Relationship Type="http://schemas.openxmlformats.org/officeDocument/2006/relationships/notesMaster" Target="/ppt/notesMasters/notesMaster1.xml" Id="R54a0882834104e53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1312a8f4fb894674" /><Relationship Type="http://schemas.openxmlformats.org/officeDocument/2006/relationships/notesMaster" Target="/ppt/notesMasters/notesMaster1.xml" Id="R6a02006c79cf4879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9e032b067c2443cc" /><Relationship Type="http://schemas.openxmlformats.org/officeDocument/2006/relationships/notesMaster" Target="/ppt/notesMasters/notesMaster1.xml" Id="R47f84130f13a488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完整两天课程。面向已有开发经验、正在使用AI的研发与QA；不是语法入门课。新版基于2026-08-31课程资料与回归证据，保留旧版课件。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docs/training/04_两天讲师唯一执行稿_含演示与恢复.md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开场请学员举一个AI写对了功能却难以维护的例子。本课同时解决做错需求和写坏结构两类风险。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docs/training/04_两天讲师唯一执行稿_含演示与恢复.md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六张任务卡各有不同工作类型，不要求两天从零实现六个完整系统。T01/T02练完整小闭环，T03/T06按课堂能力完成设计、测试及核心路径，完整实现课后收口。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docs/training/04_两天讲师唯一执行稿_含演示与恢复.md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本模块回答：AI 在哪里工作、能改什么、按什么标准、何时必须停。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docs/training/04_两天讲师唯一执行稿_含演示与恢复.md</a:t>
            </a:r>
          </a:p>
          <a:p xmlns:a="http://schemas.openxmlformats.org/drawingml/2006/main">
            <a:r>
              <a:t>docs/training/08_学员唯一入口手册.md</a:t>
            </a:r>
          </a:p>
          <a:p xmlns:a="http://schemas.openxmlformats.org/drawingml/2006/main">
            <a:r>
              <a:t>STANDARDS.md (STD-WMS-0.7-02，课程工作版)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平台不是业务决策的替代者；UI不是仅收集反馈。每次变更按受影响范围找责任方批准，非所有小Bug都要求四方重复签字。综合演练由四个角色扮演。最终放行权沿组织授权确定。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docs/training/04_两天讲师唯一执行稿_含演示与恢复.md</a:t>
            </a:r>
          </a:p>
          <a:p xmlns:a="http://schemas.openxmlformats.org/drawingml/2006/main">
            <a:r>
              <a:t>docs/training/06_UI静态契约包.md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课堂打开真实AGENTS，标出修改范围、文档入口、Docker约束、停止条件。它不自动保证模型服从；仍要检查Agent计划和实际差异。不要把任务全文和规范全文重复复制进来。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AGENTS.md</a:t>
            </a:r>
          </a:p>
          <a:p xmlns:a="http://schemas.openxmlformats.org/drawingml/2006/main">
            <a:r>
              <a:t>STANDARDS.md (STD-WMS-0.7-02，课程工作版，非甲方批准标准)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请学员分类：不能跨仓属于Spec；控制器不能直写库存表属于Standards。若批准设计要求通过InventoryOperations而实现绕过入口，则同时违反两轴，引用两条依据但不重复计数。STD-WMS-0.7-02只是课程工作版。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STANDARDS.md (STD-WMS-0.7-02，课程工作版，非甲方批准标准)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本页是课程用法总结。对to-spec特别强调：它记录已经确认的决定，不应替人补决定。新会话恢复时先校验材料版本。技能涉及外部写操作仍受权限限制，课堂优先使用本地任务材料。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STANDARDS.md (STD-WMS-0.7-02，课程工作版，非甲方批准标准)</a:t>
            </a:r>
          </a:p>
          <a:p xmlns:a="http://schemas.openxmlformats.org/drawingml/2006/main">
            <a:r>
              <a:t>https://www.aihero.dev/skills-to-spec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本模块回答：我们究竟要解决什么，以及什么结果才算做对。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docs/training/04_两天讲师唯一执行稿_含演示与恢复.md</a:t>
            </a:r>
          </a:p>
          <a:p xmlns:a="http://schemas.openxmlformats.org/drawingml/2006/main">
            <a:r>
              <a:t>docs/training/08_学员唯一入口手册.md</a:t>
            </a:r>
          </a:p>
          <a:p xmlns:a="http://schemas.openxmlformats.org/drawingml/2006/main">
            <a:r>
              <a:t>STANDARDS.md (STD-WMS-0.7-02，课程工作版)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平台不是业务决策的替代者；UI不是仅收集反馈。每次变更按受影响范围找责任方批准，非所有小Bug都要求四方重复签字。综合演练由四个角色扮演。最终放行权沿组织授权确定。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docs/training/04_两天讲师唯一执行稿_含演示与恢复.md</a:t>
            </a:r>
          </a:p>
          <a:p xmlns:a="http://schemas.openxmlformats.org/drawingml/2006/main">
            <a:r>
              <a:t>docs/training/06_UI静态契约包.md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通用方法页：这四步用于所有 T01—T06，后续页面再进入 T01 的具体类、方法、测试和文档。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AGENTS.md</a:t>
            </a:r>
          </a:p>
          <a:p xmlns:a="http://schemas.openxmlformats.org/drawingml/2006/main">
            <a:r>
              <a:t>STANDARDS.md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T01 场景信息来自学员任务卡、讲师参考以及 s2-t01-start 版本源码。ShipmentService.cancel() 保留单据取消但注释了 InventoryOperations.release 调用；集成测试要求取消后 available=10、reserved=0。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AGENTS.md</a:t>
            </a:r>
          </a:p>
          <a:p xmlns:a="http://schemas.openxmlformats.org/drawingml/2006/main">
            <a:r>
              <a:t>STANDARDS.md</a:t>
            </a:r>
          </a:p>
          <a:p xmlns:a="http://schemas.openxmlformats.org/drawingml/2006/main">
            <a:r>
              <a:t>docs/training/T01_取消出库未释放库存_学员任务卡.md</a:t>
            </a:r>
          </a:p>
          <a:p xmlns:a="http://schemas.openxmlformats.org/drawingml/2006/main">
            <a:r>
              <a:t>docs/training/T01_取消出库未释放库存_讲师参考.md</a:t>
            </a:r>
          </a:p>
          <a:p xmlns:a="http://schemas.openxmlformats.org/drawingml/2006/main">
            <a:r>
              <a:t>scenarios/T01/README.md</a:t>
            </a:r>
          </a:p>
          <a:p xmlns:a="http://schemas.openxmlformats.org/drawingml/2006/main">
            <a:r>
              <a:t>business-wms/src/main/java/com/acme/training/wms/outbound/ShipmentService.java @ s2-t01-start</a:t>
            </a:r>
          </a:p>
          <a:p xmlns:a="http://schemas.openxmlformats.org/drawingml/2006/main">
            <a:r>
              <a:t>training-server/src/test/java/com/acme/training/WmsFlowIntegrationTest.java @ s2-t01-start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T01 场景信息来自学员任务卡、讲师参考以及 s2-t01-start 版本源码。ShipmentService.cancel() 保留单据取消但注释了 InventoryOperations.release 调用；集成测试要求取消后 available=10、reserved=0。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AGENTS.md</a:t>
            </a:r>
          </a:p>
          <a:p xmlns:a="http://schemas.openxmlformats.org/drawingml/2006/main">
            <a:r>
              <a:t>STANDARDS.md</a:t>
            </a:r>
          </a:p>
          <a:p xmlns:a="http://schemas.openxmlformats.org/drawingml/2006/main">
            <a:r>
              <a:t>docs/training/T01_取消出库未释放库存_学员任务卡.md</a:t>
            </a:r>
          </a:p>
          <a:p xmlns:a="http://schemas.openxmlformats.org/drawingml/2006/main">
            <a:r>
              <a:t>docs/training/T01_取消出库未释放库存_讲师参考.md</a:t>
            </a:r>
          </a:p>
          <a:p xmlns:a="http://schemas.openxmlformats.org/drawingml/2006/main">
            <a:r>
              <a:t>scenarios/T01/README.md</a:t>
            </a:r>
          </a:p>
          <a:p xmlns:a="http://schemas.openxmlformats.org/drawingml/2006/main">
            <a:r>
              <a:t>business-wms/src/main/java/com/acme/training/wms/outbound/ShipmentService.java @ s2-t01-start</a:t>
            </a:r>
          </a:p>
          <a:p xmlns:a="http://schemas.openxmlformats.org/drawingml/2006/main">
            <a:r>
              <a:t>training-server/src/test/java/com/acme/training/WmsFlowIntegrationTest.java @ s2-t01-start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T01 场景信息来自学员任务卡、讲师参考以及 s2-t01-start 版本源码。ShipmentService.cancel() 保留单据取消但注释了 InventoryOperations.release 调用；集成测试要求取消后 available=10、reserved=0。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AGENTS.md</a:t>
            </a:r>
          </a:p>
          <a:p xmlns:a="http://schemas.openxmlformats.org/drawingml/2006/main">
            <a:r>
              <a:t>STANDARDS.md</a:t>
            </a:r>
          </a:p>
          <a:p xmlns:a="http://schemas.openxmlformats.org/drawingml/2006/main">
            <a:r>
              <a:t>docs/training/T01_取消出库未释放库存_学员任务卡.md</a:t>
            </a:r>
          </a:p>
          <a:p xmlns:a="http://schemas.openxmlformats.org/drawingml/2006/main">
            <a:r>
              <a:t>docs/training/T01_取消出库未释放库存_讲师参考.md</a:t>
            </a:r>
          </a:p>
          <a:p xmlns:a="http://schemas.openxmlformats.org/drawingml/2006/main">
            <a:r>
              <a:t>scenarios/T01/README.md</a:t>
            </a:r>
          </a:p>
          <a:p xmlns:a="http://schemas.openxmlformats.org/drawingml/2006/main">
            <a:r>
              <a:t>business-wms/src/main/java/com/acme/training/wms/outbound/ShipmentService.java @ s2-t01-start</a:t>
            </a:r>
          </a:p>
          <a:p xmlns:a="http://schemas.openxmlformats.org/drawingml/2006/main">
            <a:r>
              <a:t>training-server/src/test/java/com/acme/training/WmsFlowIntegrationTest.java @ s2-t01-start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T01 场景信息来自学员任务卡、讲师参考以及 s2-t01-start 版本源码。ShipmentService.cancel() 保留单据取消但注释了 InventoryOperations.release 调用；集成测试要求取消后 available=10、reserved=0。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AGENTS.md</a:t>
            </a:r>
          </a:p>
          <a:p xmlns:a="http://schemas.openxmlformats.org/drawingml/2006/main">
            <a:r>
              <a:t>STANDARDS.md</a:t>
            </a:r>
          </a:p>
          <a:p xmlns:a="http://schemas.openxmlformats.org/drawingml/2006/main">
            <a:r>
              <a:t>docs/training/T01_取消出库未释放库存_学员任务卡.md</a:t>
            </a:r>
          </a:p>
          <a:p xmlns:a="http://schemas.openxmlformats.org/drawingml/2006/main">
            <a:r>
              <a:t>docs/training/T01_取消出库未释放库存_讲师参考.md</a:t>
            </a:r>
          </a:p>
          <a:p xmlns:a="http://schemas.openxmlformats.org/drawingml/2006/main">
            <a:r>
              <a:t>scenarios/T01/README.md</a:t>
            </a:r>
          </a:p>
          <a:p xmlns:a="http://schemas.openxmlformats.org/drawingml/2006/main">
            <a:r>
              <a:t>business-wms/src/main/java/com/acme/training/wms/outbound/ShipmentService.java @ s2-t01-start</a:t>
            </a:r>
          </a:p>
          <a:p xmlns:a="http://schemas.openxmlformats.org/drawingml/2006/main">
            <a:r>
              <a:t>training-server/src/test/java/com/acme/training/WmsFlowIntegrationTest.java @ s2-t01-start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T02 的关键不是马上改代码，而是让学员看见：需求动一个词，数量语义、状态机、库存副作用、错误契约和兼容策略都会一起变化。代码标签未同步时，正确动作是保持阻塞。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docs/training/T02_调整入库分批收货规则_讲师参考.md</a:t>
            </a:r>
          </a:p>
          <a:p xmlns:a="http://schemas.openxmlformats.org/drawingml/2006/main">
            <a:r>
              <a:t>docs/training/06_UI静态契约包.md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本页只发布材料实操。学员交付新旧差异、数量/状态矩阵、影响面、测试骨架和AI任务指令；禁止切旧T02标签，禁止修改代码。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docs/training/T02_调整入库分批收货规则_学员任务卡.md</a:t>
            </a:r>
          </a:p>
          <a:p xmlns:a="http://schemas.openxmlformats.org/drawingml/2006/main">
            <a:r>
              <a:t>docs/training/04_两天讲师唯一执行稿_含演示与恢复.md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本页是 T02 的课堂操作指引；按人工批准门逐步执行，不把截图、AI声明或测试总数单独当作放行结论。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docs/training/T02_调整入库分批收货规则_学员任务卡.md</a:t>
            </a:r>
          </a:p>
          <a:p xmlns:a="http://schemas.openxmlformats.org/drawingml/2006/main">
            <a:r>
              <a:t>AGENTS.md</a:t>
            </a:r>
          </a:p>
          <a:p xmlns:a="http://schemas.openxmlformats.org/drawingml/2006/main">
            <a:r>
              <a:t>STANDARDS.md</a:t>
            </a:r>
          </a:p>
          <a:p xmlns:a="http://schemas.openxmlformats.org/drawingml/2006/main">
            <a:r>
              <a:t>docs/training/08_学员唯一入口手册.md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本页是 T02 的课堂操作指引；按人工批准门逐步执行，不把截图、AI声明或测试总数单独当作放行结论。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docs/training/T02_调整入库分批收货规则_学员任务卡.md</a:t>
            </a:r>
          </a:p>
          <a:p xmlns:a="http://schemas.openxmlformats.org/drawingml/2006/main">
            <a:r>
              <a:t>AGENTS.md</a:t>
            </a:r>
          </a:p>
          <a:p xmlns:a="http://schemas.openxmlformats.org/drawingml/2006/main">
            <a:r>
              <a:t>STANDARDS.md</a:t>
            </a:r>
          </a:p>
          <a:p xmlns:a="http://schemas.openxmlformats.org/drawingml/2006/main">
            <a:r>
              <a:t>docs/training/08_学员唯一入口手册.md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本页是 T02 的课堂操作指引；按人工批准门逐步执行，不把截图、AI声明或测试总数单独当作放行结论。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docs/training/T02_调整入库分批收货规则_学员任务卡.md</a:t>
            </a:r>
          </a:p>
          <a:p xmlns:a="http://schemas.openxmlformats.org/drawingml/2006/main">
            <a:r>
              <a:t>AGENTS.md</a:t>
            </a:r>
          </a:p>
          <a:p xmlns:a="http://schemas.openxmlformats.org/drawingml/2006/main">
            <a:r>
              <a:t>STANDARDS.md</a:t>
            </a:r>
          </a:p>
          <a:p xmlns:a="http://schemas.openxmlformats.org/drawingml/2006/main">
            <a:r>
              <a:t>docs/training/08_学员唯一入口手册.md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验收重点是边界是否冻结并可追溯，不是代码是否完成。讲师检查超收、幂等、并发和兼容是否都有明确规则或阻塞所有者。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docs/training/T02_调整入库分批收货规则_评分细则.md</a:t>
            </a:r>
          </a:p>
          <a:p xmlns:a="http://schemas.openxmlformats.org/drawingml/2006/main">
            <a:r>
              <a:t>docs/training/06_UI静态契约包.md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平台不是业务决策的替代者；UI不是仅收集反馈。每次变更按受影响范围找责任方批准，非所有小Bug都要求四方重复签字。综合演练由四个角色扮演。最终放行权沿组织授权确定。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docs/training/04_两天讲师唯一执行稿_含演示与恢复.md</a:t>
            </a:r>
          </a:p>
          <a:p xmlns:a="http://schemas.openxmlformats.org/drawingml/2006/main">
            <a:r>
              <a:t>docs/training/06_UI静态契约包.md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这是基于本轮真实审查的风险集合，并非所有生产场景。选择一条AC让学员提出会通过旧测试的错误实现，再设计可以杀死它的断言。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docs/training/evidence/2026-08-31_存量审查修复记录.md</a:t>
            </a:r>
          </a:p>
          <a:p xmlns:a="http://schemas.openxmlformats.org/drawingml/2006/main">
            <a:r>
              <a:t>docs/training/evidence/2026-08-31_剩余问题推进记录.md</a:t>
            </a:r>
          </a:p>
          <a:p xmlns:a="http://schemas.openxmlformats.org/drawingml/2006/main">
            <a:r>
              <a:t>STANDARDS.md (STD-WMS-0.7-02，课程工作版，非甲方批准标准)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本页是 T03 的课堂操作指引；按人工批准门逐步执行，不把截图、AI声明或测试总数单独当作放行结论。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docs/training/T03_从零新建库内移库_学员任务卡.md</a:t>
            </a:r>
          </a:p>
          <a:p xmlns:a="http://schemas.openxmlformats.org/drawingml/2006/main">
            <a:r>
              <a:t>AGENTS.md</a:t>
            </a:r>
          </a:p>
          <a:p xmlns:a="http://schemas.openxmlformats.org/drawingml/2006/main">
            <a:r>
              <a:t>STANDARDS.md</a:t>
            </a:r>
          </a:p>
          <a:p xmlns:a="http://schemas.openxmlformats.org/drawingml/2006/main">
            <a:r>
              <a:t>docs/training/08_学员唯一入口手册.md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本页是 T03 的课堂操作指引；按人工批准门逐步执行，不把截图、AI声明或测试总数单独当作放行结论。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docs/training/T03_从零新建库内移库_学员任务卡.md</a:t>
            </a:r>
          </a:p>
          <a:p xmlns:a="http://schemas.openxmlformats.org/drawingml/2006/main">
            <a:r>
              <a:t>AGENTS.md</a:t>
            </a:r>
          </a:p>
          <a:p xmlns:a="http://schemas.openxmlformats.org/drawingml/2006/main">
            <a:r>
              <a:t>STANDARDS.md</a:t>
            </a:r>
          </a:p>
          <a:p xmlns:a="http://schemas.openxmlformats.org/drawingml/2006/main">
            <a:r>
              <a:t>docs/training/08_学员唯一入口手册.md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本页是 T03 的课堂操作指引；按人工批准门逐步执行，不把截图、AI声明或测试总数单独当作放行结论。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docs/training/T03_从零新建库内移库_学员任务卡.md</a:t>
            </a:r>
          </a:p>
          <a:p xmlns:a="http://schemas.openxmlformats.org/drawingml/2006/main">
            <a:r>
              <a:t>AGENTS.md</a:t>
            </a:r>
          </a:p>
          <a:p xmlns:a="http://schemas.openxmlformats.org/drawingml/2006/main">
            <a:r>
              <a:t>STANDARDS.md</a:t>
            </a:r>
          </a:p>
          <a:p xmlns:a="http://schemas.openxmlformats.org/drawingml/2006/main">
            <a:r>
              <a:t>docs/training/08_学员唯一入口手册.md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平台不是业务决策的替代者；UI不是仅收集反馈。每次变更按受影响范围找责任方批准，非所有小Bug都要求四方重复签字。综合演练由四个角色扮演。最终放行权沿组织授权确定。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docs/training/04_两天讲师唯一执行稿_含演示与恢复.md</a:t>
            </a:r>
          </a:p>
          <a:p xmlns:a="http://schemas.openxmlformats.org/drawingml/2006/main">
            <a:r>
              <a:t>docs/training/06_UI静态契约包.md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本模块回答：代码如何被证明，而不是仅仅看起来能运行。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docs/training/04_两天讲师唯一执行稿_含演示与恢复.md</a:t>
            </a:r>
          </a:p>
          <a:p xmlns:a="http://schemas.openxmlformats.org/drawingml/2006/main">
            <a:r>
              <a:t>docs/training/08_学员唯一入口手册.md</a:t>
            </a:r>
          </a:p>
          <a:p xmlns:a="http://schemas.openxmlformats.org/drawingml/2006/main">
            <a:r>
              <a:t>STANDARDS.md (STD-WMS-0.7-02，课程工作版)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这是基于本轮真实审查的风险集合，并非所有生产场景。选择一条AC让学员提出会通过旧测试的错误实现，再设计可以杀死它的断言。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docs/training/evidence/2026-08-31_存量审查修复记录.md</a:t>
            </a:r>
          </a:p>
          <a:p xmlns:a="http://schemas.openxmlformats.org/drawingml/2006/main">
            <a:r>
              <a:t>docs/training/evidence/2026-08-31_剩余问题推进记录.md</a:t>
            </a:r>
          </a:p>
          <a:p xmlns:a="http://schemas.openxmlformats.org/drawingml/2006/main">
            <a:r>
              <a:t>STANDARDS.md (STD-WMS-0.7-02，课程工作版，非甲方批准标准)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平台不是业务决策的替代者；UI不是仅收集反馈。每次变更按受影响范围找责任方批准，非所有小Bug都要求四方重复签字。综合演练由四个角色扮演。最终放行权沿组织授权确定。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docs/training/04_两天讲师唯一执行稿_含演示与恢复.md</a:t>
            </a:r>
          </a:p>
          <a:p xmlns:a="http://schemas.openxmlformats.org/drawingml/2006/main">
            <a:r>
              <a:t>docs/training/06_UI静态契约包.md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这是基于本轮真实审查的风险集合，并非所有生产场景。选择一条AC让学员提出会通过旧测试的错误实现，再设计可以杀死它的断言。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docs/training/evidence/2026-08-31_存量审查修复记录.md</a:t>
            </a:r>
          </a:p>
          <a:p xmlns:a="http://schemas.openxmlformats.org/drawingml/2006/main">
            <a:r>
              <a:t>docs/training/evidence/2026-08-31_剩余问题推进记录.md</a:t>
            </a:r>
          </a:p>
          <a:p xmlns:a="http://schemas.openxmlformats.org/drawingml/2006/main">
            <a:r>
              <a:t>STANDARDS.md (STD-WMS-0.7-02，课程工作版，非甲方批准标准)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本页是 T04 的课堂操作指引；按人工批准门逐步执行，不把截图、AI声明或测试总数单独当作放行结论。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docs/training/T04_统一库存业务入口_学员任务卡.md</a:t>
            </a:r>
          </a:p>
          <a:p xmlns:a="http://schemas.openxmlformats.org/drawingml/2006/main">
            <a:r>
              <a:t>AGENTS.md</a:t>
            </a:r>
          </a:p>
          <a:p xmlns:a="http://schemas.openxmlformats.org/drawingml/2006/main">
            <a:r>
              <a:t>STANDARDS.md</a:t>
            </a:r>
          </a:p>
          <a:p xmlns:a="http://schemas.openxmlformats.org/drawingml/2006/main">
            <a:r>
              <a:t>docs/training/08_学员唯一入口手册.md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本页是 T04 的课堂操作指引；按人工批准门逐步执行，不把截图、AI声明或测试总数单独当作放行结论。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docs/training/T04_统一库存业务入口_学员任务卡.md</a:t>
            </a:r>
          </a:p>
          <a:p xmlns:a="http://schemas.openxmlformats.org/drawingml/2006/main">
            <a:r>
              <a:t>AGENTS.md</a:t>
            </a:r>
          </a:p>
          <a:p xmlns:a="http://schemas.openxmlformats.org/drawingml/2006/main">
            <a:r>
              <a:t>STANDARDS.md</a:t>
            </a:r>
          </a:p>
          <a:p xmlns:a="http://schemas.openxmlformats.org/drawingml/2006/main">
            <a:r>
              <a:t>docs/training/08_学员唯一入口手册.md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本页是 T04 的课堂操作指引；按人工批准门逐步执行，不把截图、AI声明或测试总数单独当作放行结论。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docs/training/T04_统一库存业务入口_学员任务卡.md</a:t>
            </a:r>
          </a:p>
          <a:p xmlns:a="http://schemas.openxmlformats.org/drawingml/2006/main">
            <a:r>
              <a:t>AGENTS.md</a:t>
            </a:r>
          </a:p>
          <a:p xmlns:a="http://schemas.openxmlformats.org/drawingml/2006/main">
            <a:r>
              <a:t>STANDARDS.md</a:t>
            </a:r>
          </a:p>
          <a:p xmlns:a="http://schemas.openxmlformats.org/drawingml/2006/main">
            <a:r>
              <a:t>docs/training/08_学员唯一入口手册.md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平台不是业务决策的替代者；UI不是仅收集反馈。每次变更按受影响范围找责任方批准，非所有小Bug都要求四方重复签字。综合演练由四个角色扮演。最终放行权沿组织授权确定。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docs/training/04_两天讲师唯一执行稿_含演示与恢复.md</a:t>
            </a:r>
          </a:p>
          <a:p xmlns:a="http://schemas.openxmlformats.org/drawingml/2006/main">
            <a:r>
              <a:t>docs/training/06_UI静态契约包.md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本模块回答：哪些东西值得复用，以及什么时候可以宣布完成。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docs/training/04_两天讲师唯一执行稿_含演示与恢复.md</a:t>
            </a:r>
          </a:p>
          <a:p xmlns:a="http://schemas.openxmlformats.org/drawingml/2006/main">
            <a:r>
              <a:t>docs/training/08_学员唯一入口手册.md</a:t>
            </a:r>
          </a:p>
          <a:p xmlns:a="http://schemas.openxmlformats.org/drawingml/2006/main">
            <a:r>
              <a:t>STANDARDS.md (STD-WMS-0.7-02，课程工作版)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平台不是业务决策的替代者；UI不是仅收集反馈。每次变更按受影响范围找责任方批准，非所有小Bug都要求四方重复签字。综合演练由四个角色扮演。最终放行权沿组织授权确定。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docs/training/04_两天讲师唯一执行稿_含演示与恢复.md</a:t>
            </a:r>
          </a:p>
          <a:p xmlns:a="http://schemas.openxmlformats.org/drawingml/2006/main">
            <a:r>
              <a:t>docs/training/06_UI静态契约包.md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这是基于本轮真实审查的风险集合，并非所有生产场景。选择一条AC让学员提出会通过旧测试的错误实现，再设计可以杀死它的断言。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docs/training/evidence/2026-08-31_存量审查修复记录.md</a:t>
            </a:r>
          </a:p>
          <a:p xmlns:a="http://schemas.openxmlformats.org/drawingml/2006/main">
            <a:r>
              <a:t>docs/training/evidence/2026-08-31_剩余问题推进记录.md</a:t>
            </a:r>
          </a:p>
          <a:p xmlns:a="http://schemas.openxmlformats.org/drawingml/2006/main">
            <a:r>
              <a:t>STANDARDS.md (STD-WMS-0.7-02，课程工作版，非甲方批准标准)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本页是 T05 的课堂操作指引；按人工批准门逐步执行，不把截图、AI声明或测试总数单独当作放行结论。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docs/training/T05_平台组件与Skill复用_学员任务卡.md</a:t>
            </a:r>
          </a:p>
          <a:p xmlns:a="http://schemas.openxmlformats.org/drawingml/2006/main">
            <a:r>
              <a:t>AGENTS.md</a:t>
            </a:r>
          </a:p>
          <a:p xmlns:a="http://schemas.openxmlformats.org/drawingml/2006/main">
            <a:r>
              <a:t>STANDARDS.md</a:t>
            </a:r>
          </a:p>
          <a:p xmlns:a="http://schemas.openxmlformats.org/drawingml/2006/main">
            <a:r>
              <a:t>docs/training/08_学员唯一入口手册.md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本页是 T05 的课堂操作指引；按人工批准门逐步执行，不把截图、AI声明或测试总数单独当作放行结论。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docs/training/T05_平台组件与Skill复用_学员任务卡.md</a:t>
            </a:r>
          </a:p>
          <a:p xmlns:a="http://schemas.openxmlformats.org/drawingml/2006/main">
            <a:r>
              <a:t>AGENTS.md</a:t>
            </a:r>
          </a:p>
          <a:p xmlns:a="http://schemas.openxmlformats.org/drawingml/2006/main">
            <a:r>
              <a:t>STANDARDS.md</a:t>
            </a:r>
          </a:p>
          <a:p xmlns:a="http://schemas.openxmlformats.org/drawingml/2006/main">
            <a:r>
              <a:t>docs/training/08_学员唯一入口手册.md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本页是 T05 的课堂操作指引；按人工批准门逐步执行，不把截图、AI声明或测试总数单独当作放行结论。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docs/training/T05_平台组件与Skill复用_学员任务卡.md</a:t>
            </a:r>
          </a:p>
          <a:p xmlns:a="http://schemas.openxmlformats.org/drawingml/2006/main">
            <a:r>
              <a:t>AGENTS.md</a:t>
            </a:r>
          </a:p>
          <a:p xmlns:a="http://schemas.openxmlformats.org/drawingml/2006/main">
            <a:r>
              <a:t>STANDARDS.md</a:t>
            </a:r>
          </a:p>
          <a:p xmlns:a="http://schemas.openxmlformats.org/drawingml/2006/main">
            <a:r>
              <a:t>docs/training/08_学员唯一入口手册.md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平台不是业务决策的替代者；UI不是仅收集反馈。每次变更按受影响范围找责任方批准，非所有小Bug都要求四方重复签字。综合演练由四个角色扮演。最终放行权沿组织授权确定。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docs/training/04_两天讲师唯一执行稿_含演示与恢复.md</a:t>
            </a:r>
          </a:p>
          <a:p xmlns:a="http://schemas.openxmlformats.org/drawingml/2006/main">
            <a:r>
              <a:t>docs/training/06_UI静态契约包.md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两张矩阵不能合并成一句“已通过review”。STD的MUST违反阻止放行，REVIEW是需解释的预警，N/A需要理由。固定差异起点和实现/测试快照；同一风险两轴引用不重复计数。AI输出是评审建议不是人的批准。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STANDARDS.md (STD-WMS-0.7-02，课程工作版，非甲方批准标准)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平台不是业务决策的替代者；UI不是仅收集反馈。每次变更按受影响范围找责任方批准，非所有小Bug都要求四方重复签字。综合演练由四个角色扮演。最终放行权沿组织授权确定。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docs/training/04_两天讲师唯一执行稿_含演示与恢复.md</a:t>
            </a:r>
          </a:p>
          <a:p xmlns:a="http://schemas.openxmlformats.org/drawingml/2006/main">
            <a:r>
              <a:t>docs/training/06_UI静态契约包.md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这是基于本轮真实审查的风险集合，并非所有生产场景。选择一条AC让学员提出会通过旧测试的错误实现，再设计可以杀死它的断言。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docs/training/evidence/2026-08-31_存量审查修复记录.md</a:t>
            </a:r>
          </a:p>
          <a:p xmlns:a="http://schemas.openxmlformats.org/drawingml/2006/main">
            <a:r>
              <a:t>docs/training/evidence/2026-08-31_剩余问题推进记录.md</a:t>
            </a:r>
          </a:p>
          <a:p xmlns:a="http://schemas.openxmlformats.org/drawingml/2006/main">
            <a:r>
              <a:t>STANDARDS.md (STD-WMS-0.7-02，课程工作版，非甲方批准标准)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本页是 T06 的课堂操作指引；按人工批准门逐步执行，不把截图、AI声明或测试总数单独当作放行结论。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docs/training/T06_库存盘点与差异调整_学员任务卡.md</a:t>
            </a:r>
          </a:p>
          <a:p xmlns:a="http://schemas.openxmlformats.org/drawingml/2006/main">
            <a:r>
              <a:t>AGENTS.md</a:t>
            </a:r>
          </a:p>
          <a:p xmlns:a="http://schemas.openxmlformats.org/drawingml/2006/main">
            <a:r>
              <a:t>STANDARDS.md</a:t>
            </a:r>
          </a:p>
          <a:p xmlns:a="http://schemas.openxmlformats.org/drawingml/2006/main">
            <a:r>
              <a:t>docs/training/08_学员唯一入口手册.md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本页是 T06 的课堂操作指引；按人工批准门逐步执行，不把截图、AI声明或测试总数单独当作放行结论。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docs/training/T06_库存盘点与差异调整_学员任务卡.md</a:t>
            </a:r>
          </a:p>
          <a:p xmlns:a="http://schemas.openxmlformats.org/drawingml/2006/main">
            <a:r>
              <a:t>AGENTS.md</a:t>
            </a:r>
          </a:p>
          <a:p xmlns:a="http://schemas.openxmlformats.org/drawingml/2006/main">
            <a:r>
              <a:t>STANDARDS.md</a:t>
            </a:r>
          </a:p>
          <a:p xmlns:a="http://schemas.openxmlformats.org/drawingml/2006/main">
            <a:r>
              <a:t>docs/training/08_学员唯一入口手册.md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本页是 T06 的课堂操作指引；按人工批准门逐步执行，不把截图、AI声明或测试总数单独当作放行结论。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docs/training/T06_库存盘点与差异调整_学员任务卡.md</a:t>
            </a:r>
          </a:p>
          <a:p xmlns:a="http://schemas.openxmlformats.org/drawingml/2006/main">
            <a:r>
              <a:t>AGENTS.md</a:t>
            </a:r>
          </a:p>
          <a:p xmlns:a="http://schemas.openxmlformats.org/drawingml/2006/main">
            <a:r>
              <a:t>STANDARDS.md</a:t>
            </a:r>
          </a:p>
          <a:p xmlns:a="http://schemas.openxmlformats.org/drawingml/2006/main">
            <a:r>
              <a:t>docs/training/08_学员唯一入口手册.md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平台不是业务决策的替代者；UI不是仅收集反馈。每次变更按受影响范围找责任方批准，非所有小Bug都要求四方重复签字。综合演练由四个角色扮演。最终放行权沿组织授权确定。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docs/training/04_两天讲师唯一执行稿_含演示与恢复.md</a:t>
            </a:r>
          </a:p>
          <a:p xmlns:a="http://schemas.openxmlformats.org/drawingml/2006/main">
            <a:r>
              <a:t>docs/training/06_UI静态契约包.md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平台不是业务决策的替代者；UI不是仅收集反馈。每次变更按受影响范围找责任方批准，非所有小Bug都要求四方重复签字。综合演练由四个角色扮演。最终放行权沿组织授权确定。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docs/training/04_两天讲师唯一执行稿_含演示与恢复.md</a:t>
            </a:r>
          </a:p>
          <a:p xmlns:a="http://schemas.openxmlformats.org/drawingml/2006/main">
            <a:r>
              <a:t>docs/training/06_UI静态契约包.md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最后请每位学员说出回到团队后要加入AI工作流的一条具体检查。建议先从固定Standards版本、已批准 Spec 与真实测试证据开始，不追求一次建立庞大治理平台。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STANDARDS.md (STD-WMS-0.7-02，课程工作版，非甲方批准标准)</a:t>
            </a:r>
          </a:p>
          <a:p xmlns:a="http://schemas.openxmlformats.org/drawingml/2006/main">
            <a:r>
              <a:t>docs/training/04_两天讲师唯一执行稿_含演示与恢复.md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d3048d8f89476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84baf9195cc44ab" /><Relationship Type="http://schemas.openxmlformats.org/officeDocument/2006/relationships/slideLayout" Target="/ppt/slideLayouts/slideLayout1.xml" Id="R0ca3b57084a54c4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ca3b57084a54c4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90f28c94ea4b17" /><Relationship Type="http://schemas.openxmlformats.org/officeDocument/2006/relationships/notesSlide" Target="/ppt/notesSlides/notesSlide1.xml" Id="Ra0ead92a32e1448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cc95c72dfb484f" /><Relationship Type="http://schemas.openxmlformats.org/officeDocument/2006/relationships/notesSlide" Target="/ppt/notesSlides/notesSlide2.xml" Id="R29307844b73f4f5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542b9535dd4a2d" /><Relationship Type="http://schemas.openxmlformats.org/officeDocument/2006/relationships/notesSlide" Target="/ppt/notesSlides/notesSlide3.xml" Id="R73f1ebc28f40406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48b73ad57048ed" /><Relationship Type="http://schemas.openxmlformats.org/officeDocument/2006/relationships/notesSlide" Target="/ppt/notesSlides/notesSlide4.xml" Id="R36a53172b0e347c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03f9e965d14940" /><Relationship Type="http://schemas.openxmlformats.org/officeDocument/2006/relationships/notesSlide" Target="/ppt/notesSlides/notesSlide5.xml" Id="R149382c20599499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87101f2c894fff" /><Relationship Type="http://schemas.openxmlformats.org/officeDocument/2006/relationships/notesSlide" Target="/ppt/notesSlides/notesSlide6.xml" Id="Rdf5ae55f1e874be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6600052dc14097" /><Relationship Type="http://schemas.openxmlformats.org/officeDocument/2006/relationships/notesSlide" Target="/ppt/notesSlides/notesSlide7.xml" Id="R98d7917728484e2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115ec81b554e3b" /><Relationship Type="http://schemas.openxmlformats.org/officeDocument/2006/relationships/notesSlide" Target="/ppt/notesSlides/notesSlide8.xml" Id="Rdfcab9b5db3d43d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942f03ee584e5f" /><Relationship Type="http://schemas.openxmlformats.org/officeDocument/2006/relationships/notesSlide" Target="/ppt/notesSlides/notesSlide9.xml" Id="Rea77072b33f84d6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5af7540b5e4244" /><Relationship Type="http://schemas.openxmlformats.org/officeDocument/2006/relationships/notesSlide" Target="/ppt/notesSlides/notesSlide10.xml" Id="Re17a1ee21991441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1f6a40a88e4586" /><Relationship Type="http://schemas.openxmlformats.org/officeDocument/2006/relationships/notesSlide" Target="/ppt/notesSlides/notesSlide11.xml" Id="Rfede1528bdd2433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74d78bff0741e4" /><Relationship Type="http://schemas.openxmlformats.org/officeDocument/2006/relationships/notesSlide" Target="/ppt/notesSlides/notesSlide12.xml" Id="Rc552018fdcb4479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3e4c90b80f46d2" /><Relationship Type="http://schemas.openxmlformats.org/officeDocument/2006/relationships/notesSlide" Target="/ppt/notesSlides/notesSlide13.xml" Id="R7a56d06aaa584c8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cd583183724cc8" /><Relationship Type="http://schemas.openxmlformats.org/officeDocument/2006/relationships/notesSlide" Target="/ppt/notesSlides/notesSlide14.xml" Id="R596b5a9566654cd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7c6ba849e64a4c" /><Relationship Type="http://schemas.openxmlformats.org/officeDocument/2006/relationships/notesSlide" Target="/ppt/notesSlides/notesSlide15.xml" Id="Ra5d74bd9eb484ed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6db9993fe44a4f" /><Relationship Type="http://schemas.openxmlformats.org/officeDocument/2006/relationships/notesSlide" Target="/ppt/notesSlides/notesSlide16.xml" Id="Rcdf1bd22f12c410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1e83e389f24c24" /><Relationship Type="http://schemas.openxmlformats.org/officeDocument/2006/relationships/notesSlide" Target="/ppt/notesSlides/notesSlide17.xml" Id="R420f2102d2db43d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8f95d0496f4101" /><Relationship Type="http://schemas.openxmlformats.org/officeDocument/2006/relationships/notesSlide" Target="/ppt/notesSlides/notesSlide18.xml" Id="R3e34603e5a3349a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fc192759c34034" /><Relationship Type="http://schemas.openxmlformats.org/officeDocument/2006/relationships/notesSlide" Target="/ppt/notesSlides/notesSlide19.xml" Id="R4eeeaf63b2404b4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a2ef06e1ab4b71" /><Relationship Type="http://schemas.openxmlformats.org/officeDocument/2006/relationships/notesSlide" Target="/ppt/notesSlides/notesSlide20.xml" Id="R3e14a8c53fdd4e25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3b12d134d741c3" /><Relationship Type="http://schemas.openxmlformats.org/officeDocument/2006/relationships/notesSlide" Target="/ppt/notesSlides/notesSlide21.xml" Id="R2c8671c925924baa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0a723e2bdb4662" /><Relationship Type="http://schemas.openxmlformats.org/officeDocument/2006/relationships/notesSlide" Target="/ppt/notesSlides/notesSlide22.xml" Id="Rb444bc88bb7449b2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78e91c979d413e" /><Relationship Type="http://schemas.openxmlformats.org/officeDocument/2006/relationships/notesSlide" Target="/ppt/notesSlides/notesSlide23.xml" Id="R20e332f6ba3244eb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67adb65d0f4a14" /><Relationship Type="http://schemas.openxmlformats.org/officeDocument/2006/relationships/notesSlide" Target="/ppt/notesSlides/notesSlide24.xml" Id="R6d345b12cdc545a0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6b7ddc03014687" /><Relationship Type="http://schemas.openxmlformats.org/officeDocument/2006/relationships/notesSlide" Target="/ppt/notesSlides/notesSlide25.xml" Id="Rf0ed5f219db94af4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489d0ddc164fb4" /><Relationship Type="http://schemas.openxmlformats.org/officeDocument/2006/relationships/notesSlide" Target="/ppt/notesSlides/notesSlide26.xml" Id="Re5e0632ffaa64a6c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87e2e5b8bc4426" /><Relationship Type="http://schemas.openxmlformats.org/officeDocument/2006/relationships/notesSlide" Target="/ppt/notesSlides/notesSlide27.xml" Id="R5bc61f0ee7c1497f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e3dc7af4174746" /><Relationship Type="http://schemas.openxmlformats.org/officeDocument/2006/relationships/notesSlide" Target="/ppt/notesSlides/notesSlide28.xml" Id="R007e8c6c22bc4655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b6e61bdbb84ab6" /><Relationship Type="http://schemas.openxmlformats.org/officeDocument/2006/relationships/notesSlide" Target="/ppt/notesSlides/notesSlide29.xml" Id="R26764c911d834135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5d7d747d2a4f08" /><Relationship Type="http://schemas.openxmlformats.org/officeDocument/2006/relationships/notesSlide" Target="/ppt/notesSlides/notesSlide30.xml" Id="R30a15615705642b9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ffe8a772cf4bf1" /><Relationship Type="http://schemas.openxmlformats.org/officeDocument/2006/relationships/notesSlide" Target="/ppt/notesSlides/notesSlide31.xml" Id="R336cf9708c8b434d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860819c2794b01" /><Relationship Type="http://schemas.openxmlformats.org/officeDocument/2006/relationships/notesSlide" Target="/ppt/notesSlides/notesSlide32.xml" Id="R6ba2aabe155c4387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d34a5f80894a34" /><Relationship Type="http://schemas.openxmlformats.org/officeDocument/2006/relationships/notesSlide" Target="/ppt/notesSlides/notesSlide33.xml" Id="R6a6db7f2af42406a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2a25765c3748d5" /><Relationship Type="http://schemas.openxmlformats.org/officeDocument/2006/relationships/notesSlide" Target="/ppt/notesSlides/notesSlide34.xml" Id="R517aa479993d4ccf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fee224c7b14b0d" /><Relationship Type="http://schemas.openxmlformats.org/officeDocument/2006/relationships/notesSlide" Target="/ppt/notesSlides/notesSlide35.xml" Id="R1785509dd2744581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c6d145787f416d" /><Relationship Type="http://schemas.openxmlformats.org/officeDocument/2006/relationships/notesSlide" Target="/ppt/notesSlides/notesSlide36.xml" Id="R8623f92077404f93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d1db7e031b415f" /><Relationship Type="http://schemas.openxmlformats.org/officeDocument/2006/relationships/notesSlide" Target="/ppt/notesSlides/notesSlide37.xml" Id="Rf701fc5042db415b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0443fcf9f2485b" /><Relationship Type="http://schemas.openxmlformats.org/officeDocument/2006/relationships/notesSlide" Target="/ppt/notesSlides/notesSlide38.xml" Id="R009d351eb28a4f40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fd4725a3c94162" /><Relationship Type="http://schemas.openxmlformats.org/officeDocument/2006/relationships/notesSlide" Target="/ppt/notesSlides/notesSlide39.xml" Id="Rf0dbb09d5ec54e77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bf51e0fee84ff7" /><Relationship Type="http://schemas.openxmlformats.org/officeDocument/2006/relationships/notesSlide" Target="/ppt/notesSlides/notesSlide40.xml" Id="R936bb6e60703409e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de045da95042b3" /><Relationship Type="http://schemas.openxmlformats.org/officeDocument/2006/relationships/notesSlide" Target="/ppt/notesSlides/notesSlide41.xml" Id="R8264a9595de743b4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7ab5083d1249d4" /><Relationship Type="http://schemas.openxmlformats.org/officeDocument/2006/relationships/notesSlide" Target="/ppt/notesSlides/notesSlide42.xml" Id="R4878f4e9299044b9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f65d22354a4aab" /><Relationship Type="http://schemas.openxmlformats.org/officeDocument/2006/relationships/notesSlide" Target="/ppt/notesSlides/notesSlide43.xml" Id="R04b1c36ef5404041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a22fb0f25642c4" /><Relationship Type="http://schemas.openxmlformats.org/officeDocument/2006/relationships/notesSlide" Target="/ppt/notesSlides/notesSlide44.xml" Id="Rb51a42da28ca40f5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a5792b2e644a64" /><Relationship Type="http://schemas.openxmlformats.org/officeDocument/2006/relationships/notesSlide" Target="/ppt/notesSlides/notesSlide45.xml" Id="Raf2ced45783f4511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b8c48e77b9495b" /><Relationship Type="http://schemas.openxmlformats.org/officeDocument/2006/relationships/notesSlide" Target="/ppt/notesSlides/notesSlide46.xml" Id="Rb3772cf5315c48f7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338f8ac7a142a6" /><Relationship Type="http://schemas.openxmlformats.org/officeDocument/2006/relationships/notesSlide" Target="/ppt/notesSlides/notesSlide47.xml" Id="R0438eb9bec1f439c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247dba8a6d4994" /><Relationship Type="http://schemas.openxmlformats.org/officeDocument/2006/relationships/notesSlide" Target="/ppt/notesSlides/notesSlide48.xml" Id="R267d0b33e72a4046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07d3f7da8c48a3" /><Relationship Type="http://schemas.openxmlformats.org/officeDocument/2006/relationships/notesSlide" Target="/ppt/notesSlides/notesSlide49.xml" Id="R78e09d1d7ead4da3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cc3eabec9b4c8f" /><Relationship Type="http://schemas.openxmlformats.org/officeDocument/2006/relationships/notesSlide" Target="/ppt/notesSlides/notesSlide50.xml" Id="Rc0b8b6d21ef5473a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ebebd058674fb4" /><Relationship Type="http://schemas.openxmlformats.org/officeDocument/2006/relationships/notesSlide" Target="/ppt/notesSlides/notesSlide51.xml" Id="R90019527af484d2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86CA1F-DA62-41A5-9D40-27DDD518A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B616B"/>
                </a:solidFill>
              </a:defRPr>
            </a:pPr>
            <a:r>
              <a:rPr sz="1050" b="1">
                <a:solidFill>
                  <a:srgbClr val="5B616B"/>
                </a:solidFill>
              </a:rPr>
              <a:t>AI CODING 工程实战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66D18F-3437-4B39-9102-0BB167D72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9906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4500" b="1">
                <a:solidFill>
                  <a:srgbClr val="111111"/>
                </a:solidFill>
              </a:defRPr>
            </a:pPr>
            <a:r>
              <a:rPr sz="4500" b="1">
                <a:solidFill>
                  <a:srgbClr val="111111"/>
                </a:solidFill>
              </a:rPr>
              <a:t>用 AI 写代码，让质量可验证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93090E-1923-42AD-B280-AEFCC711D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619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91AB5A-4622-4D87-8E83-4E232F903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B616B"/>
                </a:solidFill>
              </a:defRPr>
            </a:pPr>
            <a:r>
              <a:rPr sz="1725" b="0">
                <a:solidFill>
                  <a:srgbClr val="5B616B"/>
                </a:solidFill>
              </a:rPr>
              <a:t>Spec 定边界 · Standards 定标准 · 测试与评审形成交付证据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7DCF2B-01F7-4190-BD32-EA91E4BF5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B616B"/>
                </a:solidFill>
              </a:defRPr>
            </a:pPr>
            <a:r>
              <a:rPr sz="1050" b="0">
                <a:solidFill>
                  <a:srgbClr val="5B616B"/>
                </a:solidFill>
              </a:rPr>
              <a:t>Java / Spring Boot · training-wms · V0.7 任务路线版</a:t>
            </a:r>
          </a:p>
        </p:txBody>
      </p:sp>
    </p:spTree>
    <p:extLst>
      <p:ext uri="{BB962C8B-B14F-4D97-AF65-F5344CB8AC3E}">
        <p14:creationId xmlns:p14="http://schemas.microsoft.com/office/powerpoint/2010/main" val="172193079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CB860C-5270-4B95-AAF1-C1E891B41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B616B"/>
                </a:solidFill>
              </a:defRPr>
            </a:pPr>
            <a:r>
              <a:rPr sz="975" b="1">
                <a:solidFill>
                  <a:srgbClr val="5B616B"/>
                </a:solidFill>
              </a:rPr>
              <a:t>AI CODING · V0.7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BC8723-ED4B-454B-8159-E5E79DBF2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5DF6F8-A8B9-49E1-B8A8-F2A98272F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198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B616B"/>
                </a:solidFill>
              </a:defRPr>
            </a:pPr>
            <a:r>
              <a:rPr sz="900" b="0">
                <a:solidFill>
                  <a:srgbClr val="5B616B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325519-8C4B-4D09-83A4-2836338BB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两天只练一件事：让 AI 代码可审核、可验证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D88F29-7240-49B1-B866-987E8088C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B616B"/>
                </a:solidFill>
              </a:defRPr>
            </a:pPr>
            <a:r>
              <a:rPr sz="1425" b="0">
                <a:solidFill>
                  <a:srgbClr val="5B616B"/>
                </a:solidFill>
              </a:rPr>
              <a:t>每个任务只回答四个问题：边界、Spec、证据、裁决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78742E-7D89-47D3-B419-2EF67EC15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2381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3D8DFF"/>
                </a:solidFill>
              </a:defRPr>
            </a:pPr>
            <a:r>
              <a:rPr sz="3750" b="1">
                <a:solidFill>
                  <a:srgbClr val="3D8DFF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D54B53-7CEC-4676-BCCF-922F413AB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908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616B"/>
                </a:solidFill>
              </a:defRPr>
            </a:pPr>
            <a:r>
              <a:rPr sz="1350" b="0">
                <a:solidFill>
                  <a:srgbClr val="5B616B"/>
                </a:solidFill>
              </a:rPr>
              <a:t>边界是否清楚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AF3A3E-C7D2-416F-A82D-6A946FA22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190750"/>
            <a:ext cx="2381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3D8DFF"/>
                </a:solidFill>
              </a:defRPr>
            </a:pPr>
            <a:r>
              <a:rPr sz="3750" b="1">
                <a:solidFill>
                  <a:srgbClr val="3D8DFF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27B24A-B11E-4964-B7F4-622C1EE49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9908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616B"/>
                </a:solidFill>
              </a:defRPr>
            </a:pPr>
            <a:r>
              <a:rPr sz="1350" b="0">
                <a:solidFill>
                  <a:srgbClr val="5B616B"/>
                </a:solidFill>
              </a:rPr>
              <a:t>Spec 是否批准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054439-3049-4D56-A783-F088CD4B9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90750"/>
            <a:ext cx="2381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3D8DFF"/>
                </a:solidFill>
              </a:defRPr>
            </a:pPr>
            <a:r>
              <a:rPr sz="3750" b="1">
                <a:solidFill>
                  <a:srgbClr val="3D8DFF"/>
                </a:solidFill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55CED3-4642-4A7F-B422-E92932832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908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616B"/>
                </a:solidFill>
              </a:defRPr>
            </a:pPr>
            <a:r>
              <a:rPr sz="1350" b="0">
                <a:solidFill>
                  <a:srgbClr val="5B616B"/>
                </a:solidFill>
              </a:rPr>
              <a:t>证据是否充分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F415CF-4C62-40DB-96F5-37E410E2E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190750"/>
            <a:ext cx="1905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3D8DFF"/>
                </a:solidFill>
              </a:defRPr>
            </a:pPr>
            <a:r>
              <a:rPr sz="3750" b="1">
                <a:solidFill>
                  <a:srgbClr val="3D8DFF"/>
                </a:solidFill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053931-3C89-4A04-B2E6-788954964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990850"/>
            <a:ext cx="190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616B"/>
                </a:solidFill>
              </a:defRPr>
            </a:pPr>
            <a:r>
              <a:rPr sz="1350" b="0">
                <a:solidFill>
                  <a:srgbClr val="5B616B"/>
                </a:solidFill>
              </a:rPr>
              <a:t>风险是否裁决</a:t>
            </a:r>
          </a:p>
        </p:txBody>
      </p:sp>
    </p:spTree>
    <p:extLst>
      <p:ext uri="{BB962C8B-B14F-4D97-AF65-F5344CB8AC3E}">
        <p14:creationId xmlns:p14="http://schemas.microsoft.com/office/powerpoint/2010/main" val="117213056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AEC64AA-2BA6-4537-A2F4-0B5F54C69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B616B"/>
                </a:solidFill>
              </a:defRPr>
            </a:pPr>
            <a:r>
              <a:rPr sz="975" b="1">
                <a:solidFill>
                  <a:srgbClr val="5B616B"/>
                </a:solidFill>
              </a:rPr>
              <a:t>课程总览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90CB43-6075-46E7-8320-EFFE9FB0E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9B84CD-AC4E-4A0F-BA34-020326A62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198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B616B"/>
                </a:solidFill>
              </a:defRPr>
            </a:pPr>
            <a:r>
              <a:rPr sz="900" b="0">
                <a:solidFill>
                  <a:srgbClr val="5B616B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7CCE97-C5F1-40C3-A869-6E7C3301A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六类任务，对应六条解决路线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A0BD85-F5DA-49CA-8E45-9B2C8A31C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</a:defRPr>
            </a:pPr>
            <a:r>
              <a:rPr sz="1650" b="1">
                <a:solidFill>
                  <a:srgbClr val="3D8DFF"/>
                </a:solidFill>
              </a:rPr>
              <a:t>T01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FA92DD-72F3-4474-9B5B-7AA9A4285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95262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修改 Bug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5E4922-8111-4A17-8D07-1BE9009A7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447925"/>
            <a:ext cx="257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616B"/>
                </a:solidFill>
              </a:defRPr>
            </a:pPr>
            <a:r>
              <a:rPr sz="1350" b="0">
                <a:solidFill>
                  <a:srgbClr val="5B616B"/>
                </a:solidFill>
              </a:rPr>
              <a:t>复现 → 根因 → 最小修复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885588-2C26-496D-9501-3CD938839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09925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6EF78C-9F34-4E3B-B076-A1B8F08B8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95262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</a:defRPr>
            </a:pPr>
            <a:r>
              <a:rPr sz="1650" b="1">
                <a:solidFill>
                  <a:srgbClr val="3D8DFF"/>
                </a:solidFill>
              </a:rPr>
              <a:t>T02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B8BE24-4E4E-4152-A827-4E7E95859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95262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调整需求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6C6C3D-ADD1-4EA5-91E9-2681DD4D1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447925"/>
            <a:ext cx="257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616B"/>
                </a:solidFill>
              </a:defRPr>
            </a:pPr>
            <a:r>
              <a:rPr sz="1350" b="0">
                <a:solidFill>
                  <a:srgbClr val="5B616B"/>
                </a:solidFill>
              </a:rPr>
              <a:t>差异 → 数量/状态 → Spec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AD4F76-7ED4-48A2-9011-C17350B40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209925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90153F-3918-4ED0-812D-C51311E28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5262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</a:defRPr>
            </a:pPr>
            <a:r>
              <a:rPr sz="1650" b="1">
                <a:solidFill>
                  <a:srgbClr val="3D8DFF"/>
                </a:solidFill>
              </a:rPr>
              <a:t>T03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B7AE92-1A2F-428C-9210-638CF9D4C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5262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从 0 新建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D1DEE1-3A9E-41CF-9AB9-312C91AD5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447925"/>
            <a:ext cx="257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616B"/>
                </a:solidFill>
              </a:defRPr>
            </a:pPr>
            <a:r>
              <a:rPr sz="1350" b="0">
                <a:solidFill>
                  <a:srgbClr val="5B616B"/>
                </a:solidFill>
              </a:rPr>
              <a:t>语义 → 设计 → 测试骨架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D55EED-AA83-44AB-8642-690B9C908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209925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D61F05-2389-4E1A-B2DA-BAD255CFF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5762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</a:defRPr>
            </a:pPr>
            <a:r>
              <a:rPr sz="1650" b="1">
                <a:solidFill>
                  <a:srgbClr val="3D8DFF"/>
                </a:solidFill>
              </a:rPr>
              <a:t>T04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EB409F-3530-4071-B132-3E1E6F220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85762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业务重构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2E4972-AB2F-460A-8237-7E057B8F0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352925"/>
            <a:ext cx="257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616B"/>
                </a:solidFill>
              </a:defRPr>
            </a:pPr>
            <a:r>
              <a:rPr sz="1350" b="0">
                <a:solidFill>
                  <a:srgbClr val="5B616B"/>
                </a:solidFill>
              </a:rPr>
              <a:t>冻结行为 → 小步重构 → 回归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73A8AA-D901-41B7-95EF-7E1F13D12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14925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B7BD8D-CF4C-4FA8-AA17-F00564A1F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85762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</a:defRPr>
            </a:pPr>
            <a:r>
              <a:rPr sz="1650" b="1">
                <a:solidFill>
                  <a:srgbClr val="3D8DFF"/>
                </a:solidFill>
              </a:rPr>
              <a:t>T05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EE34E1-4BC7-486E-9B72-E9E2D7059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85762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组件 / Skill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E8B0A1-6008-440A-89B9-9BC2D8019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352925"/>
            <a:ext cx="257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616B"/>
                </a:solidFill>
              </a:defRPr>
            </a:pPr>
            <a:r>
              <a:rPr sz="1350" b="0">
                <a:solidFill>
                  <a:srgbClr val="5B616B"/>
                </a:solidFill>
              </a:rPr>
              <a:t>边界 → 机制 → 契约测试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96D8FA-080D-4ED3-BB2F-E909A20FA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114925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EDE363E-C1DA-41EB-B65A-9A496D22F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85762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</a:defRPr>
            </a:pPr>
            <a:r>
              <a:rPr sz="1650" b="1">
                <a:solidFill>
                  <a:srgbClr val="3D8DFF"/>
                </a:solidFill>
              </a:rPr>
              <a:t>T06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B57F2C-F117-42EC-A249-5E7FCF8B3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综合考核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AF87707-7AD9-4ADD-ADC7-840FB2722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352925"/>
            <a:ext cx="257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616B"/>
                </a:solidFill>
              </a:defRPr>
            </a:pPr>
            <a:r>
              <a:rPr sz="1350" b="0">
                <a:solidFill>
                  <a:srgbClr val="5B616B"/>
                </a:solidFill>
              </a:rPr>
              <a:t>Spec → 证据链 → 裁决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30FE7A-3B39-4C19-8F46-AFDDEC2DD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114925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6292791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08855D-8AED-4B3A-9C40-11D2F91A1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M1 · 建边界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5E51CE-BAA2-4841-84C3-75E74C8B2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1028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先让 AI 理解工程，再允许它动手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4A350B-2493-40DE-9D1A-686D4608E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8858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C9CDD3"/>
                </a:solidFill>
              </a:defRPr>
            </a:pPr>
            <a:r>
              <a:rPr sz="1650" b="0">
                <a:solidFill>
                  <a:srgbClr val="C9CDD3"/>
                </a:solidFill>
              </a:rPr>
              <a:t>AGENTS.md、Spec、Standards、所有权和 Skills 共同限定执行空间。</a:t>
            </a:r>
          </a:p>
        </p:txBody>
      </p:sp>
    </p:spTree>
    <p:extLst>
      <p:ext uri="{BB962C8B-B14F-4D97-AF65-F5344CB8AC3E}">
        <p14:creationId xmlns:p14="http://schemas.microsoft.com/office/powerpoint/2010/main" val="113474047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E95D05-9987-48FF-A737-2368CDC5F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B616B"/>
                </a:solidFill>
              </a:defRPr>
            </a:pPr>
            <a:r>
              <a:rPr sz="975" b="1">
                <a:solidFill>
                  <a:srgbClr val="5B616B"/>
                </a:solidFill>
              </a:rPr>
              <a:t>模块一 · 理论讲解 · 团队协作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946F26-F55C-4367-9F7B-142E63512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F49026-A750-46B6-9F20-B8468C369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198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B616B"/>
                </a:solidFill>
              </a:defRPr>
            </a:pPr>
            <a:r>
              <a:rPr sz="900" b="0">
                <a:solidFill>
                  <a:srgbClr val="5B616B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386817-E76D-40B4-B54F-C4C62AA18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同一条交付链，四类所有者各守边界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066C9F-6053-4643-B9A1-AB81F56E2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952625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3D8DFF"/>
                </a:solidFill>
              </a:defRPr>
            </a:pPr>
            <a:r>
              <a:rPr sz="1875" b="1">
                <a:solidFill>
                  <a:srgbClr val="3D8DFF"/>
                </a:solidFill>
              </a:rPr>
              <a:t>技术中台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173CC6-0B1B-4227-A19E-81C12AF50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52625"/>
            <a:ext cx="752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B616B"/>
                </a:solidFill>
              </a:defRPr>
            </a:pPr>
            <a:r>
              <a:rPr sz="1575" b="0">
                <a:solidFill>
                  <a:srgbClr val="5B616B"/>
                </a:solidFill>
              </a:rPr>
              <a:t>公共研发中心：公共机制、平台契约与兼容策略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1681C8-0555-4668-8140-0D57EFA66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38425"/>
            <a:ext cx="10239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7F50C2-DA6C-4EBB-81DE-F2A0C59A3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05125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UI 团队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4F3D80-0F65-46ED-BE26-D23895C58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905125"/>
            <a:ext cx="752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B616B"/>
                </a:solidFill>
              </a:defRPr>
            </a:pPr>
            <a:r>
              <a:rPr sz="1575" b="0">
                <a:solidFill>
                  <a:srgbClr val="5B616B"/>
                </a:solidFill>
              </a:rPr>
              <a:t>技术部：公司级规范、通用组件与展示契约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D6FE92-3891-416F-A425-19B98907A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590925"/>
            <a:ext cx="10239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7C9571-CCDB-4392-8A9B-A28CD60F9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857625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仓储事业部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FBECE8-F5FB-4C42-86DC-0664F15DD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857625"/>
            <a:ext cx="752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B616B"/>
                </a:solidFill>
              </a:defRPr>
            </a:pPr>
            <a:r>
              <a:rPr sz="1575" b="0">
                <a:solidFill>
                  <a:srgbClr val="5B616B"/>
                </a:solidFill>
              </a:rPr>
              <a:t>业务规则与事业部代码；在允许范围内扩展规范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872733-EDE5-49E2-BBE9-AFF31B1C2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43425"/>
            <a:ext cx="10239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643C74-EF78-4376-A6A3-5E6E0469E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810125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QA / 质量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B2DA0A-FC16-438A-8A4D-7D824915B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810125"/>
            <a:ext cx="752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B616B"/>
                </a:solidFill>
              </a:defRPr>
            </a:pPr>
            <a:r>
              <a:rPr sz="1575" b="0">
                <a:solidFill>
                  <a:srgbClr val="5B616B"/>
                </a:solidFill>
              </a:rPr>
              <a:t>验收条件、回归证据与放行建议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C74D18-43A7-4234-BB74-8A3FE49BE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95925"/>
            <a:ext cx="10239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6432852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E9ABE0-930B-4819-81FA-0ADD7B2AB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B616B"/>
                </a:solidFill>
              </a:defRPr>
            </a:pPr>
            <a:r>
              <a:rPr sz="975" b="1">
                <a:solidFill>
                  <a:srgbClr val="5B616B"/>
                </a:solidFill>
              </a:rPr>
              <a:t>模块一 · 理论讲解 · 文档与边界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7EE738-BC1F-41F6-96A1-BAC16ED06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0C4B92-D61A-45F9-B3FB-159770601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198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B616B"/>
                </a:solidFill>
              </a:defRPr>
            </a:pPr>
            <a:r>
              <a:rPr sz="900" b="0">
                <a:solidFill>
                  <a:srgbClr val="5B616B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02E891-1A62-434E-896A-6A0F9D561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AGENTS.md 把执行约束变成可读取的契约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99037F-4477-487C-AD48-3039F180D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52578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39B4CA-94E6-4116-8924-02604A09D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05000"/>
            <a:ext cx="54864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E2D6BA-CC69-4913-A634-03AA971E3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应该写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013190-B0B5-45D5-BBE9-987BEB898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098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6FB637-1B86-406C-A5B9-3B92EE9DC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67000"/>
            <a:ext cx="4210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修改范围和团队所有权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11221E-A2AC-45A8-869A-98BDAB781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004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4F0342-C355-4D58-BD2E-768AD8C2C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57550"/>
            <a:ext cx="4210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先读 Spec、Standards，再分步验证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2B7617-FB1B-4FBB-9D51-95EA67A6D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909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6DF56E-A633-43D6-9550-5A33AB54A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48100"/>
            <a:ext cx="4210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固定 Docker 验证方式与回归要求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62E5F3-3AA1-4320-BF37-913296954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815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19EFA1-110F-49C6-B007-0594E11C4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38650"/>
            <a:ext cx="4210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必须停止并请求人工的情形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A2C1E7-1178-448B-95E1-43252F3C1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95500"/>
            <a:ext cx="466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3D8DFF"/>
                </a:solidFill>
              </a:defRPr>
            </a:pPr>
            <a:r>
              <a:rPr sz="1875" b="1">
                <a:solidFill>
                  <a:srgbClr val="3D8DFF"/>
                </a:solidFill>
              </a:rPr>
              <a:t>不应该写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62DF67-C8C3-429B-ABE7-30AF3A1D1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098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9B1E03-EC94-434C-AD4E-67457F1BF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667000"/>
            <a:ext cx="440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经常变化的单次需求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2C2385-32A7-49E9-A555-CD83E856E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004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1CD614-B7C4-4CB5-903D-12C7391F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257550"/>
            <a:ext cx="440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数百行业务说明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F5F157-ED0A-49ED-8AEE-B6F3646F9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909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B5098F-3A7D-4433-AC8F-77A9B323A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48100"/>
            <a:ext cx="440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某个人的临时偏好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2FD421-2C9B-4ADC-9F4E-152EBDFEF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5815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7E0BF9-248D-4D1E-8406-9F9887B61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438650"/>
            <a:ext cx="440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已经属于架构或 API 文档的细节</a:t>
            </a:r>
          </a:p>
        </p:txBody>
      </p:sp>
    </p:spTree>
    <p:extLst>
      <p:ext uri="{BB962C8B-B14F-4D97-AF65-F5344CB8AC3E}">
        <p14:creationId xmlns:p14="http://schemas.microsoft.com/office/powerpoint/2010/main" val="54706146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8E866C-7A8A-4AC5-BCF0-D0F41CF00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B616B"/>
                </a:solidFill>
              </a:defRPr>
            </a:pPr>
            <a:r>
              <a:rPr sz="975" b="1">
                <a:solidFill>
                  <a:srgbClr val="5B616B"/>
                </a:solidFill>
              </a:rPr>
              <a:t>模块一 · 理论讲解 · Spec × Standards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45F1F4-7F83-4DA4-824C-8CE22D388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AA250C-6BA7-4651-9B1D-3DDFF0F39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198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B616B"/>
                </a:solidFill>
              </a:defRPr>
            </a:pPr>
            <a:r>
              <a:rPr sz="900" b="0">
                <a:solidFill>
                  <a:srgbClr val="5B616B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FF9C8E-3D3A-414E-B4B0-C311F715C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Spec 定这次边界，Standards 定每次标准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C6CADF-1010-409C-8931-B824C4099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52578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87817E-7FBD-453A-89F0-606A91B87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05000"/>
            <a:ext cx="54864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B86428-DA82-486D-8101-FD193B623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已批准 Spec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3D53D8-C178-4EF8-8E18-73A8A099A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098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C5FC8F-E412-4A80-AF72-C5DA6A480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67000"/>
            <a:ext cx="4210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本次实收量与累计量如何解释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7C5BF1-0DB1-47BC-A0AC-A04A0166D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004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CF5880-3E53-45E3-A7E1-5318A9BF3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57550"/>
            <a:ext cx="4210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移库是否跨仓、是否包含预占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D5A103-E393-4EC0-8305-79F6054E3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909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DCE673-7416-4293-9FEA-3CAC5349B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48100"/>
            <a:ext cx="4210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本次 API、事务与验收条件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904ED3-84C3-4F95-9FEE-0F2552E20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815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1BE57A-A583-4187-8164-3EA8C309A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38650"/>
            <a:ext cx="4210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不做哪些需求，采用哪版设计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CD8676-4C12-4A08-9C94-E3C57E144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95500"/>
            <a:ext cx="466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3D8DFF"/>
                </a:solidFill>
              </a:defRPr>
            </a:pPr>
            <a:r>
              <a:rPr sz="1875" b="1">
                <a:solidFill>
                  <a:srgbClr val="3D8DFF"/>
                </a:solidFill>
              </a:rPr>
              <a:t>Standards / 固定版本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EF7167-0A77-4450-AF31-F1D0B74A8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098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E4942A-02A4-4C75-BA8D-671C204C6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667000"/>
            <a:ext cx="440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职责内聚，不绕过库存业务入口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271A53-8C0C-4A2B-BB25-B57C86A88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004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09F5CE-707D-4813-BEE6-B55915993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257550"/>
            <a:ext cx="440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命名清晰，副作用和异常显式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1580A1-88D0-4C40-ADD3-18D38A91D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909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C76882-96E7-4DD4-8BE4-D53F33BA8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48100"/>
            <a:ext cx="440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先检索复用，再决定是否抽象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CDC2A1-8529-4A96-A5AE-81C30E3D6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5815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0E3ECE-041D-4285-9FEC-CCF98BE39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438650"/>
            <a:ext cx="440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行为测试、回归与双轴审核</a:t>
            </a:r>
          </a:p>
        </p:txBody>
      </p:sp>
    </p:spTree>
    <p:extLst>
      <p:ext uri="{BB962C8B-B14F-4D97-AF65-F5344CB8AC3E}">
        <p14:creationId xmlns:p14="http://schemas.microsoft.com/office/powerpoint/2010/main" val="25886832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89667C-9DF9-454B-B618-12BC57578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B616B"/>
                </a:solidFill>
              </a:defRPr>
            </a:pPr>
            <a:r>
              <a:rPr sz="975" b="1">
                <a:solidFill>
                  <a:srgbClr val="5B616B"/>
                </a:solidFill>
              </a:rPr>
              <a:t>模块一 · 理论讲解 · Skills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89C78D-C8BF-4BCE-9860-BABB98BB8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028CA9-F6AA-4D78-8D2D-D1E665E80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198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B616B"/>
                </a:solidFill>
              </a:defRPr>
            </a:pPr>
            <a:r>
              <a:rPr sz="900" b="0">
                <a:solidFill>
                  <a:srgbClr val="5B616B"/>
                </a:solidFill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9A195A-3909-426D-8A27-BB0AF9E55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五个 Skills 串成一条交付流程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EF9578-2594-4026-90A3-8474F0380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AFB4EE-6537-401D-BFAE-8DA648351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95262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/grill-with-docs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DDE007-93BE-401B-8B5D-A12F8AC56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52625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16B"/>
                </a:solidFill>
              </a:defRPr>
            </a:pPr>
            <a:r>
              <a:rPr sz="1500" b="0">
                <a:solidFill>
                  <a:srgbClr val="5B616B"/>
                </a:solidFill>
              </a:rPr>
              <a:t>读需求与代码 → 列事实、歧义和待决策项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6914B3-C3E0-4ED5-BF4E-088628A80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14600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31AA44-67D5-49A1-893A-6D2CDACFE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3367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8CB430-4E65-4209-9180-96731D23C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3367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/to-spec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0AE7A1-C157-4029-980F-A392DDECE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33675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16B"/>
                </a:solidFill>
              </a:defRPr>
            </a:pPr>
            <a:r>
              <a:rPr sz="1500" b="0">
                <a:solidFill>
                  <a:srgbClr val="5B616B"/>
                </a:solidFill>
              </a:rPr>
              <a:t>已确认决定 → 写范围、设计与验收依据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208E09-A4C7-4DFA-89C9-6FABE7494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95650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33F492-8543-41F5-A4C5-7316A2460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1472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B6EFFB-DA9D-48AE-AC6C-D3A635436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51472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/to-tickets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D8AAF6-A3A5-4BF2-B28A-A2FEDBC48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514725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16B"/>
                </a:solidFill>
              </a:defRPr>
            </a:pPr>
            <a:r>
              <a:rPr sz="1500" b="0">
                <a:solidFill>
                  <a:srgbClr val="5B616B"/>
                </a:solidFill>
              </a:rPr>
              <a:t>批准 Spec → 切分可验证的行为任务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A056AD-6B2D-4AC4-8A33-0464635EF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76700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40C79D-A491-4FDF-A577-D125B4262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9577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FC7F47-D1FE-4A00-808A-7CE2B4A54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29577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/implement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EAA409-D9B0-4597-B5D4-B8FB03A32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295775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16B"/>
                </a:solidFill>
              </a:defRPr>
            </a:pPr>
            <a:r>
              <a:rPr sz="1500" b="0">
                <a:solidFill>
                  <a:srgbClr val="5B616B"/>
                </a:solidFill>
              </a:rPr>
              <a:t>任务与标准 → 小步代码、测试和差异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0495B4-5CFC-4F05-B9BD-A313EBC4A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57750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3636D3-C302-4CA2-9D9E-3FC22BD04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7682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0EA52E-425F-40EB-A944-23E589E04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07682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/code-review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CA5431-CBB8-4019-8C39-687AA5FAE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076825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16B"/>
                </a:solidFill>
              </a:defRPr>
            </a:pPr>
            <a:r>
              <a:rPr sz="1500" b="0">
                <a:solidFill>
                  <a:srgbClr val="5B616B"/>
                </a:solidFill>
              </a:rPr>
              <a:t>固定差异与依据 → Spec / Standards 发现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C28A77-A3BC-4E2B-B5D5-29D0706DB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638800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2502812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08855D-8AED-4B3A-9C40-11D2F91A1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M2 · 审 Spec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5E51CE-BAA2-4841-84C3-75E74C8B2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1028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先审核需求和设计，再进入代码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4A350B-2493-40DE-9D1A-686D4608E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8858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C9CDD3"/>
                </a:solidFill>
              </a:defRPr>
            </a:pPr>
            <a:r>
              <a:rPr sz="1650" b="0">
                <a:solidFill>
                  <a:srgbClr val="C9CDD3"/>
                </a:solidFill>
              </a:rPr>
              <a:t>T01 练证据驱动修复；T02 练需求变更；T03 练从 0 建立可批准设计。</a:t>
            </a:r>
          </a:p>
        </p:txBody>
      </p:sp>
    </p:spTree>
    <p:extLst>
      <p:ext uri="{BB962C8B-B14F-4D97-AF65-F5344CB8AC3E}">
        <p14:creationId xmlns:p14="http://schemas.microsoft.com/office/powerpoint/2010/main" val="113474047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E95D05-9987-48FF-A737-2368CDC5F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B616B"/>
                </a:solidFill>
              </a:defRPr>
            </a:pPr>
            <a:r>
              <a:rPr sz="975" b="1">
                <a:solidFill>
                  <a:srgbClr val="5B616B"/>
                </a:solidFill>
              </a:rPr>
              <a:t>理论讲解 · T01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946F26-F55C-4367-9F7B-142E63512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F49026-A750-46B6-9F20-B8468C369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198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B616B"/>
                </a:solidFill>
              </a:defRPr>
            </a:pPr>
            <a:r>
              <a:rPr sz="900" b="0">
                <a:solidFill>
                  <a:srgbClr val="5B616B"/>
                </a:solidFill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386817-E76D-40B4-B54F-C4C62AA18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修 Bug：先证明根因，再做最小修复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066C9F-6053-4643-B9A1-AB81F56E2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952625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3D8DFF"/>
                </a:solidFill>
              </a:defRPr>
            </a:pPr>
            <a:r>
              <a:rPr sz="1875" b="1">
                <a:solidFill>
                  <a:srgbClr val="3D8DFF"/>
                </a:solidFill>
              </a:rPr>
              <a:t>业务问题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173CC6-0B1B-4227-A19E-81C12AF50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52625"/>
            <a:ext cx="752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B616B"/>
                </a:solidFill>
              </a:defRPr>
            </a:pPr>
            <a:r>
              <a:rPr sz="1575" b="0">
                <a:solidFill>
                  <a:srgbClr val="5B616B"/>
                </a:solidFill>
              </a:rPr>
              <a:t>客户在货物出库前取消已预占订单；系统只取消单据却未释放库存，需要让状态与库存同事务恢复。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1681C8-0555-4668-8140-0D57EFA66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38425"/>
            <a:ext cx="10239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7F50C2-DA6C-4EBB-81DE-F2A0C59A3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05125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为什么易错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4F3D80-0F65-46ED-BE26-D23895C58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905125"/>
            <a:ext cx="752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B616B"/>
                </a:solidFill>
              </a:defRPr>
            </a:pPr>
            <a:r>
              <a:rPr sz="1575" b="0">
                <a:solidFill>
                  <a:srgbClr val="5B616B"/>
                </a:solidFill>
              </a:rPr>
              <a:t>AI 容易根据异常现象直接猜修改点，顺手扩大改动，或者只让单个测试变绿。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D6FE92-3891-416F-A425-19B98907A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590925"/>
            <a:ext cx="10239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7C9571-CCDB-4392-8A9B-A28CD60F9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857625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推荐方法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FBECE8-F5FB-4C42-86DC-0664F15DD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857625"/>
            <a:ext cx="752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B616B"/>
                </a:solidFill>
              </a:defRPr>
            </a:pPr>
            <a:r>
              <a:rPr sz="1575" b="0">
                <a:solidFill>
                  <a:srgbClr val="5B616B"/>
                </a:solidFill>
              </a:rPr>
              <a:t>固定失败输入与结果，沿取消调用链定位首次偏离规则的位置，再在原事务内修复根因。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872733-EDE5-49E2-BBE9-AFF31B1C2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43425"/>
            <a:ext cx="10239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643C74-EF78-4376-A6A3-5E6E0469E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810125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质量结果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B2DA0A-FC16-438A-8A4D-7D824915B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810125"/>
            <a:ext cx="752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B616B"/>
                </a:solidFill>
              </a:defRPr>
            </a:pPr>
            <a:r>
              <a:rPr sz="1575" b="0">
                <a:solidFill>
                  <a:srgbClr val="5B616B"/>
                </a:solidFill>
              </a:rPr>
              <a:t>目标行为恢复、失败可回滚、完整回归通过，并能解释为什么改动范围足够小。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C74D18-43A7-4234-BB74-8A3FE49BE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95925"/>
            <a:ext cx="10239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6432852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CB860C-5270-4B95-AAF1-C1E891B41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B616B"/>
                </a:solidFill>
              </a:defRPr>
            </a:pPr>
            <a:r>
              <a:rPr sz="975" b="1">
                <a:solidFill>
                  <a:srgbClr val="5B616B"/>
                </a:solidFill>
              </a:rPr>
              <a:t>通用方法 · Agent 工作流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BC8723-ED4B-454B-8159-E5E79DBF2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5DF6F8-A8B9-49E1-B8A8-F2A98272F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198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B616B"/>
                </a:solidFill>
              </a:defRPr>
            </a:pPr>
            <a:r>
              <a:rPr sz="900" b="0">
                <a:solidFill>
                  <a:srgbClr val="5B616B"/>
                </a:solidFill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325519-8C4B-4D09-83A4-2836338BB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先套四步方法，再进入具体业务场景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D88F29-7240-49B1-B866-987E8088C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B616B"/>
                </a:solidFill>
              </a:defRPr>
            </a:pPr>
            <a:r>
              <a:rPr sz="1425" b="0">
                <a:solidFill>
                  <a:srgbClr val="5B616B"/>
                </a:solidFill>
              </a:rPr>
              <a:t>人负责事实、批准与裁决；Agent 负责发现、实现与产出证据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78742E-7D89-47D3-B419-2EF67EC15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2381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3D8DFF"/>
                </a:solidFill>
              </a:defRPr>
            </a:pPr>
            <a:r>
              <a:rPr sz="3750" b="1">
                <a:solidFill>
                  <a:srgbClr val="3D8DFF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D54B53-7CEC-4676-BCCF-922F413AB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908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616B"/>
                </a:solidFill>
              </a:defRPr>
            </a:pPr>
            <a:r>
              <a:rPr sz="1350" b="0">
                <a:solidFill>
                  <a:srgbClr val="5B616B"/>
                </a:solidFill>
              </a:rPr>
              <a:t>人提供业务事实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AF3A3E-C7D2-416F-A82D-6A946FA22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190750"/>
            <a:ext cx="2381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3D8DFF"/>
                </a:solidFill>
              </a:defRPr>
            </a:pPr>
            <a:r>
              <a:rPr sz="3750" b="1">
                <a:solidFill>
                  <a:srgbClr val="3D8DFF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27B24A-B11E-4964-B7F4-622C1EE49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9908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616B"/>
                </a:solidFill>
              </a:defRPr>
            </a:pPr>
            <a:r>
              <a:rPr sz="1350" b="0">
                <a:solidFill>
                  <a:srgbClr val="5B616B"/>
                </a:solidFill>
              </a:rPr>
              <a:t>Agent 搜索代码与证据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054439-3049-4D56-A783-F088CD4B9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90750"/>
            <a:ext cx="2381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3D8DFF"/>
                </a:solidFill>
              </a:defRPr>
            </a:pPr>
            <a:r>
              <a:rPr sz="3750" b="1">
                <a:solidFill>
                  <a:srgbClr val="3D8DFF"/>
                </a:solidFill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55CED3-4642-4A7F-B422-E92932832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908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616B"/>
                </a:solidFill>
              </a:defRPr>
            </a:pPr>
            <a:r>
              <a:rPr sz="1350" b="0">
                <a:solidFill>
                  <a:srgbClr val="5B616B"/>
                </a:solidFill>
              </a:rPr>
              <a:t>人批准根因与范围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F415CF-4C62-40DB-96F5-37E410E2E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190750"/>
            <a:ext cx="1905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3D8DFF"/>
                </a:solidFill>
              </a:defRPr>
            </a:pPr>
            <a:r>
              <a:rPr sz="3750" b="1">
                <a:solidFill>
                  <a:srgbClr val="3D8DFF"/>
                </a:solidFill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053931-3C89-4A04-B2E6-788954964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990850"/>
            <a:ext cx="190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616B"/>
                </a:solidFill>
              </a:defRPr>
            </a:pPr>
            <a:r>
              <a:rPr sz="1350" b="0">
                <a:solidFill>
                  <a:srgbClr val="5B616B"/>
                </a:solidFill>
              </a:rPr>
              <a:t>Agent 实现与 Review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B616B"/>
                </a:solidFill>
              </a:defRPr>
            </a:pPr>
            <a:r>
              <a:rPr sz="1350" b="0">
                <a:solidFill>
                  <a:srgbClr val="5B616B"/>
                </a:solidFill>
              </a:rPr>
              <a:t>人完成 Decision</a:t>
            </a:r>
          </a:p>
        </p:txBody>
      </p:sp>
    </p:spTree>
    <p:extLst>
      <p:ext uri="{BB962C8B-B14F-4D97-AF65-F5344CB8AC3E}">
        <p14:creationId xmlns:p14="http://schemas.microsoft.com/office/powerpoint/2010/main" val="117213056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E9ABE0-930B-4819-81FA-0ADD7B2AB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B616B"/>
                </a:solidFill>
              </a:defRPr>
            </a:pPr>
            <a:r>
              <a:rPr sz="975" b="1">
                <a:solidFill>
                  <a:srgbClr val="5B616B"/>
                </a:solidFill>
              </a:rPr>
              <a:t>T01 · Agent 定位结果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7EE738-BC1F-41F6-96A1-BAC16ED06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0C4B92-D61A-45F9-B3FB-159770601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198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B616B"/>
                </a:solidFill>
              </a:defRPr>
            </a:pPr>
            <a:r>
              <a:rPr sz="900" b="0">
                <a:solidFill>
                  <a:srgbClr val="5B616B"/>
                </a:solidFill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02E891-1A62-434E-896A-6A0F9D561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Agent 从失败证据定位到取消链路的缺失调用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99037F-4477-487C-AD48-3039F180D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52578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39B4CA-94E6-4116-8924-02604A09D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05000"/>
            <a:ext cx="54864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E2D6BA-CC69-4913-A634-03AA971E3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Agent 自主完成的调查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013190-B0B5-45D5-BBE9-987BEB898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098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6FB637-1B86-406C-A5B9-3B92EE9DC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67000"/>
            <a:ext cx="4210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重跑目标测试，确认失败可稳定复现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11221E-A2AC-45A8-869A-98BDAB781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004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4F0342-C355-4D58-BD2E-768AD8C2C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57550"/>
            <a:ext cx="4210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从 POST /api/wms/shipments/{id}/cancel 向下追踪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2B7617-FB1B-4FBB-9D51-95EA67A6D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909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6DF56E-A633-43D6-9550-5A33AB54A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48100"/>
            <a:ext cx="4210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ShipmentController.cancel() → ShipmentOperations.cancel() → ShipmentService.cancel()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62E5F3-3AA1-4320-BF37-913296954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815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19EFA1-110F-49C6-B007-0594E11C4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38650"/>
            <a:ext cx="4210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对照测试期望与正常分支，将证据写入 01_review.md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A2C1E7-1178-448B-95E1-43252F3C1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95500"/>
            <a:ext cx="466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3D8DFF"/>
                </a:solidFill>
              </a:defRPr>
            </a:pPr>
            <a:r>
              <a:rPr sz="1875" b="1">
                <a:solidFill>
                  <a:srgbClr val="3D8DFF"/>
                </a:solidFill>
              </a:rPr>
              <a:t>Agent 给出的定位结论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62DF67-C8C3-429B-ABE7-30AF3A1D1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098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9B1E03-EC94-434C-AD4E-67457F1BF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667000"/>
            <a:ext cx="440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缺失点：ShipmentService.cancel()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2C2385-32A7-49E9-A555-CD83E856E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004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1CD614-B7C4-4CB5-903D-12C7391F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257550"/>
            <a:ext cx="440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order.cancel(...) 已将单据改为 CANCELLED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F5F157-ED0A-49ED-8AEE-B6F3646F9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909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B5098F-3A7D-4433-AC8F-77A9B323A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48100"/>
            <a:ext cx="440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原状态为 RESERVED 时应释放库存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2FD421-2C9B-4ADC-9F4E-152EBDFEF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5815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7E0BF9-248D-4D1E-8406-9F9887B61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438650"/>
            <a:ext cx="440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inventoryOperations.release(...) 被注释，导致单据取消但库存仍为 4 / 6</a:t>
            </a:r>
          </a:p>
        </p:txBody>
      </p:sp>
    </p:spTree>
    <p:extLst>
      <p:ext uri="{BB962C8B-B14F-4D97-AF65-F5344CB8AC3E}">
        <p14:creationId xmlns:p14="http://schemas.microsoft.com/office/powerpoint/2010/main" val="54706146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89667C-9DF9-454B-B618-12BC57578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B616B"/>
                </a:solidFill>
              </a:defRPr>
            </a:pPr>
            <a:r>
              <a:rPr sz="975" b="1">
                <a:solidFill>
                  <a:srgbClr val="5B616B"/>
                </a:solidFill>
              </a:rPr>
              <a:t>T01 · 失败复现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89C78D-C8BF-4BCE-9860-BABB98BB8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028CA9-F6AA-4D78-8D2D-D1E665E80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198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B616B"/>
                </a:solidFill>
              </a:defRPr>
            </a:pPr>
            <a:r>
              <a:rPr sz="900" b="0">
                <a:solidFill>
                  <a:srgbClr val="5B616B"/>
                </a:solidFill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9A195A-3909-426D-8A27-BB0AF9E55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先跑失败用例，再让 Agent 自主定位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EF9578-2594-4026-90A3-8474F0380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AFB4EE-6537-401D-BFAE-8DA648351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95262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切到起始分支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DDE007-93BE-401B-8B5D-A12F8AC56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52625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16B"/>
                </a:solidFill>
              </a:defRPr>
            </a:pPr>
            <a:r>
              <a:rPr sz="1500" b="0">
                <a:solidFill>
                  <a:srgbClr val="5B616B"/>
                </a:solidFill>
              </a:rPr>
              <a:t>s2-t01-start；不要先看答案分支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6914B3-C3E0-4ED5-BF4E-088628A80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14600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31AA44-67D5-49A1-893A-6D2CDACFE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3367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8CB430-4E65-4209-9180-96731D23C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3367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复现业务场景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0AE7A1-C157-4029-980F-A392DDECE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33675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16B"/>
                </a:solidFill>
              </a:defRPr>
            </a:pPr>
            <a:r>
              <a:rPr sz="1500" b="0">
                <a:solidFill>
                  <a:srgbClr val="5B616B"/>
                </a:solidFill>
              </a:rPr>
              <a:t>仓库1 / 库位1 / SKU101：入库10 → SO-101预占6 → 取消出库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208E09-A4C7-4DFA-89C9-6FABE7494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95650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33F492-8543-41F5-A4C5-7316A2460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1472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B6EFFB-DA9D-48AE-AC6C-D3A635436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51472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运行目标测试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D8AAF6-A3A5-4BF2-B28A-A2FEDBC48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514725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16B"/>
                </a:solidFill>
              </a:defRPr>
            </a:pPr>
            <a:r>
              <a:rPr sz="1500" b="0">
                <a:solidFill>
                  <a:srgbClr val="5B616B"/>
                </a:solidFill>
              </a:rPr>
              <a:t>WmsFlowIntegrationTest#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B616B"/>
                </a:solidFill>
              </a:defRPr>
            </a:pPr>
            <a:r>
              <a:rPr sz="1500" b="0">
                <a:solidFill>
                  <a:srgbClr val="5B616B"/>
                </a:solidFill>
              </a:rPr>
              <a:t>cancellingReservedShipmentReleasesInventory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A056AD-6B2D-4AC4-8A33-0464635EF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76700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40C79D-A491-4FDF-A577-D125B4262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9577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FC7F47-D1FE-4A00-808A-7CE2B4A54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29577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记录失败证据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EAA409-D9B0-4597-B5D4-B8FB03A32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295775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16B"/>
                </a:solidFill>
              </a:defRPr>
            </a:pPr>
            <a:r>
              <a:rPr sz="1500" b="0">
                <a:solidFill>
                  <a:srgbClr val="5B616B"/>
                </a:solidFill>
              </a:rPr>
              <a:t>订单已取消，但库存仍为 4 / 6；保存测试输出与必要截图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0495B4-5CFC-4F05-B9BD-A313EBC4A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57750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3636D3-C302-4CA2-9D9E-3FC22BD04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7682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0EA52E-425F-40EB-A944-23E589E04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07682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交给 Agent 调查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CA5431-CBB8-4019-8C39-687AA5FAE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076825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16B"/>
                </a:solidFill>
              </a:defRPr>
            </a:pPr>
            <a:r>
              <a:rPr sz="1500" b="0">
                <a:solidFill>
                  <a:srgbClr val="5B616B"/>
                </a:solidFill>
              </a:rPr>
              <a:t>给出失败证据、AGENTS.md、Spec、Standards 与只读权限；要求先定位，禁止改码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C28A77-A3BC-4E2B-B5D5-29D0706DB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638800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2502812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E95D05-9987-48FF-A737-2368CDC5F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B616B"/>
                </a:solidFill>
              </a:defRPr>
            </a:pPr>
            <a:r>
              <a:rPr sz="975" b="1">
                <a:solidFill>
                  <a:srgbClr val="5B616B"/>
                </a:solidFill>
              </a:rPr>
              <a:t>T01 · 执行与人工交互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946F26-F55C-4367-9F7B-142E63512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F49026-A750-46B6-9F20-B8468C369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198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B616B"/>
                </a:solidFill>
              </a:defRPr>
            </a:pPr>
            <a:r>
              <a:rPr sz="900" b="0">
                <a:solidFill>
                  <a:srgbClr val="5B616B"/>
                </a:solidFill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386817-E76D-40B4-B54F-C4C62AA18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定位结论确认后，Agent 才开始修改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066C9F-6053-4643-B9A1-AB81F56E2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952625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3D8DFF"/>
                </a:solidFill>
              </a:defRPr>
            </a:pPr>
            <a:r>
              <a:rPr sz="1875" b="1">
                <a:solidFill>
                  <a:srgbClr val="3D8DFF"/>
                </a:solidFill>
              </a:rPr>
              <a:t>① Agent 提交方案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173CC6-0B1B-4227-A19E-81C12AF50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52625"/>
            <a:ext cx="752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B616B"/>
                </a:solidFill>
              </a:defRPr>
            </a:pPr>
            <a:r>
              <a:rPr sz="1575" b="0">
                <a:solidFill>
                  <a:srgbClr val="5B616B"/>
                </a:solidFill>
              </a:rPr>
              <a:t>输出 02_impact.md + 03_agent-task.md：说明改哪个方法、补哪些测试、明确禁止范围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1681C8-0555-4668-8140-0D57EFA66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38425"/>
            <a:ext cx="10239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7F50C2-DA6C-4EBB-81DE-F2A0C59A3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05125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② 人工批准边界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4F3D80-0F65-46ED-BE26-D23895C58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905125"/>
            <a:ext cx="752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B616B"/>
                </a:solidFill>
              </a:defRPr>
            </a:pPr>
            <a:r>
              <a:rPr sz="1575" b="0">
                <a:solidFill>
                  <a:srgbClr val="5B616B"/>
                </a:solidFill>
              </a:rPr>
              <a:t>确认根因与方案；只放行 ShipmentService.java 和必要测试，不通过则要求 Agent 重新定位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D6FE92-3891-416F-A425-19B98907A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590925"/>
            <a:ext cx="10239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7C9571-CCDB-4392-8A9B-A28CD60F9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857625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③ Agent 最小修复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FBECE8-F5FB-4C42-86DC-0664F15DD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857625"/>
            <a:ext cx="752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B616B"/>
                </a:solidFill>
              </a:defRPr>
            </a:pPr>
            <a:r>
              <a:rPr sz="1575" b="0">
                <a:solidFill>
                  <a:srgbClr val="5B616B"/>
                </a:solidFill>
              </a:rPr>
              <a:t>执行 /implement：在 cancel() 事务内恢复 inventoryOperations.release(inventoryCommand(...))，并补充测试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872733-EDE5-49E2-BBE9-AFF31B1C2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43425"/>
            <a:ext cx="10239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643C74-EF78-4376-A6A3-5E6E0469E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810125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④ 人工验收裁决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B2DA0A-FC16-438A-8A4D-7D824915B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810125"/>
            <a:ext cx="752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B616B"/>
                </a:solidFill>
              </a:defRPr>
            </a:pPr>
            <a:r>
              <a:rPr sz="1575" b="0">
                <a:solidFill>
                  <a:srgbClr val="5B616B"/>
                </a:solidFill>
              </a:rPr>
              <a:t>运行目标测试 + mvn clean verify；按已批准 Spec 与 Standards 做双轴 review，决定接受、退回或回滚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C74D18-43A7-4234-BB74-8A3FE49BE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95925"/>
            <a:ext cx="10239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6432852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89667C-9DF9-454B-B618-12BC57578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B616B"/>
                </a:solidFill>
              </a:defRPr>
            </a:pPr>
            <a:r>
              <a:rPr sz="975" b="1">
                <a:solidFill>
                  <a:srgbClr val="5B616B"/>
                </a:solidFill>
              </a:rPr>
              <a:t>T01 · 总结与沉淀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89C78D-C8BF-4BCE-9860-BABB98BB8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028CA9-F6AA-4D78-8D2D-D1E665E80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198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B616B"/>
                </a:solidFill>
              </a:defRPr>
            </a:pPr>
            <a:r>
              <a:rPr sz="900" b="0">
                <a:solidFill>
                  <a:srgbClr val="5B616B"/>
                </a:solidFill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9A195A-3909-426D-8A27-BB0AF9E55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任务结束后，Agent 汇总全过程，人只做最终确认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EF9578-2594-4026-90A3-8474F0380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AFB4EE-6537-401D-BFAE-8DA648351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95262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问题与定位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DDE007-93BE-401B-8B5D-A12F8AC56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52625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16B"/>
                </a:solidFill>
              </a:defRPr>
            </a:pPr>
            <a:r>
              <a:rPr sz="1500" b="0">
                <a:solidFill>
                  <a:srgbClr val="5B616B"/>
                </a:solidFill>
              </a:rPr>
              <a:t>01_review.md：失败现象、复现命令、调用链、根因和证据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6914B3-C3E0-4ED5-BF4E-088628A80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14600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31AA44-67D5-49A1-893A-6D2CDACFE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3367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8CB430-4E65-4209-9180-96731D23C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3367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边界与任务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0AE7A1-C157-4029-980F-A392DDECE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33675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16B"/>
                </a:solidFill>
              </a:defRPr>
            </a:pPr>
            <a:r>
              <a:rPr sz="1500" b="0">
                <a:solidFill>
                  <a:srgbClr val="5B616B"/>
                </a:solidFill>
              </a:rPr>
              <a:t>02_impact.md + 03_agent-task.md：允许修改的类/方法、禁止范围和修复目标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208E09-A4C7-4DFA-89C9-6FABE7494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95650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33F492-8543-41F5-A4C5-7316A2460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1472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B6EFFB-DA9D-48AE-AC6C-D3A635436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51472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验证与代码评审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D8AAF6-A3A5-4BF2-B28A-A2FEDBC48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514725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16B"/>
                </a:solidFill>
              </a:defRPr>
            </a:pPr>
            <a:r>
              <a:rPr sz="1500" b="0">
                <a:solidFill>
                  <a:srgbClr val="5B616B"/>
                </a:solidFill>
              </a:rPr>
              <a:t>04_verification.md + code-review.md：目标测试、全量测试和 Spec / Standards 双轴结果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A056AD-6B2D-4AC4-8A33-0464635EF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76700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40C79D-A491-4FDF-A577-D125B4262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9577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FC7F47-D1FE-4A00-808A-7CE2B4A54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29577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问题复盘与决策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EAA409-D9B0-4597-B5D4-B8FB03A32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295775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16B"/>
                </a:solidFill>
              </a:defRPr>
            </a:pPr>
            <a:r>
              <a:rPr sz="1500" b="0">
                <a:solidFill>
                  <a:srgbClr val="5B616B"/>
                </a:solidFill>
              </a:rPr>
              <a:t>05_problem-review.md + 06_decision.md：问题为何发生、评审意见与接受/退回/回滚决定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0495B4-5CFC-4F05-B9BD-A313EBC4A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57750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3636D3-C302-4CA2-9D9E-3FC22BD04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7682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0EA52E-425F-40EB-A944-23E589E04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07682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交付总结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CA5431-CBB8-4019-8C39-687AA5FAE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076825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16B"/>
                </a:solidFill>
              </a:defRPr>
            </a:pPr>
            <a:r>
              <a:rPr sz="1500" b="0">
                <a:solidFill>
                  <a:srgbClr val="5B616B"/>
                </a:solidFill>
              </a:rPr>
              <a:t>07_delivery.md：最终 Diff、分支/提交、回滚方式、遗留风险和后续动作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C28A77-A3BC-4E2B-B5D5-29D0706DB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638800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2502812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E95D05-9987-48FF-A737-2368CDC5F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B616B"/>
                </a:solidFill>
              </a:defRPr>
            </a:pPr>
            <a:r>
              <a:rPr sz="975" b="1">
                <a:solidFill>
                  <a:srgbClr val="5B616B"/>
                </a:solidFill>
              </a:rPr>
              <a:t>理论讲解 · T02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946F26-F55C-4367-9F7B-142E63512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F49026-A750-46B6-9F20-B8468C369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198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B616B"/>
                </a:solidFill>
              </a:defRPr>
            </a:pPr>
            <a:r>
              <a:rPr sz="900" b="0">
                <a:solidFill>
                  <a:srgbClr val="5B616B"/>
                </a:solidFill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386817-E76D-40B4-B54F-C4C62AA18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改需求：先冻结分批收货规则，再让 AI 修改代码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066C9F-6053-4643-B9A1-AB81F56E2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952625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3D8DFF"/>
                </a:solidFill>
              </a:defRPr>
            </a:pPr>
            <a:r>
              <a:rPr sz="1875" b="1">
                <a:solidFill>
                  <a:srgbClr val="3D8DFF"/>
                </a:solidFill>
              </a:rPr>
              <a:t>业务问题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173CC6-0B1B-4227-A19E-81C12AF50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52625"/>
            <a:ext cx="752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B616B"/>
                </a:solidFill>
              </a:defRPr>
            </a:pPr>
            <a:r>
              <a:rPr sz="1575" b="0">
                <a:solidFill>
                  <a:srgbClr val="5B616B"/>
                </a:solidFill>
              </a:rPr>
              <a:t>供应商分批到货，仓库要逐批收货并立即入账；需要累计收满后完成，同时防止超收和重复入账。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1681C8-0555-4668-8140-0D57EFA66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38425"/>
            <a:ext cx="10239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7F50C2-DA6C-4EBB-81DE-F2A0C59A3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05125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为什么易错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4F3D80-0F65-46ED-BE26-D23895C58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905125"/>
            <a:ext cx="752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B616B"/>
                </a:solidFill>
              </a:defRPr>
            </a:pPr>
            <a:r>
              <a:rPr sz="1575" b="0">
                <a:solidFill>
                  <a:srgbClr val="5B616B"/>
                </a:solidFill>
              </a:rPr>
              <a:t>“分批收货”未定义本次/累计、部分状态、超收、重试与并发，AI 会自行补语义。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D6FE92-3891-416F-A425-19B98907A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590925"/>
            <a:ext cx="10239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7C9571-CCDB-4392-8A9B-A28CD60F9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857625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推荐方法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FBECE8-F5FB-4C42-86DC-0664F15DD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857625"/>
            <a:ext cx="752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B616B"/>
                </a:solidFill>
              </a:defRPr>
            </a:pPr>
            <a:r>
              <a:rPr sz="1575" b="0">
                <a:solidFill>
                  <a:srgbClr val="5B616B"/>
                </a:solidFill>
              </a:rPr>
              <a:t>新旧差异 → 数量/状态矩阵 → UI/API/库存影响 → 批准 Spec → 测试骨架。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872733-EDE5-49E2-BBE9-AFF31B1C2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43425"/>
            <a:ext cx="10239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643C74-EF78-4376-A6A3-5E6E0469E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810125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质量结果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B2DA0A-FC16-438A-8A4D-7D824915B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810125"/>
            <a:ext cx="752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B616B"/>
                </a:solidFill>
              </a:defRPr>
            </a:pPr>
            <a:r>
              <a:rPr sz="1575" b="0">
                <a:solidFill>
                  <a:srgbClr val="5B616B"/>
                </a:solidFill>
              </a:rPr>
              <a:t>每条新规则都有验收；未批准契约不进入实现；代码标签同步前保持阻塞。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C74D18-43A7-4234-BB74-8A3FE49BE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95925"/>
            <a:ext cx="10239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6432852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89667C-9DF9-454B-B618-12BC57578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B616B"/>
                </a:solidFill>
              </a:defRPr>
            </a:pPr>
            <a:r>
              <a:rPr sz="975" b="1">
                <a:solidFill>
                  <a:srgbClr val="5B616B"/>
                </a:solidFill>
              </a:rPr>
              <a:t>T02 · 调整需求 · 任务路线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89C78D-C8BF-4BCE-9860-BABB98BB8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028CA9-F6AA-4D78-8D2D-D1E665E80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198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B616B"/>
                </a:solidFill>
              </a:defRPr>
            </a:pPr>
            <a:r>
              <a:rPr sz="900" b="0">
                <a:solidFill>
                  <a:srgbClr val="5B616B"/>
                </a:solidFill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9A195A-3909-426D-8A27-BB0AF9E55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设计“入库单分批收货”需求变更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EF9578-2594-4026-90A3-8474F0380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AFB4EE-6537-401D-BFAE-8DA648351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95262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任务目标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DDE007-93BE-401B-8B5D-A12F8AC56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52625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16B"/>
                </a:solidFill>
              </a:defRPr>
            </a:pPr>
            <a:r>
              <a:rPr sz="1500" b="0">
                <a:solidFill>
                  <a:srgbClr val="5B616B"/>
                </a:solidFill>
              </a:rPr>
              <a:t>将一次性收货调整为分批收货，累计达到计划量后完成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6914B3-C3E0-4ED5-BF4E-088628A80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14600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31AA44-67D5-49A1-893A-6D2CDACFE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3367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8CB430-4E65-4209-9180-96731D23C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3367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解决方式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0AE7A1-C157-4029-980F-A392DDECE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33675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16B"/>
                </a:solidFill>
              </a:defRPr>
            </a:pPr>
            <a:r>
              <a:rPr sz="1500" b="0">
                <a:solidFill>
                  <a:srgbClr val="5B616B"/>
                </a:solidFill>
              </a:rPr>
              <a:t>需求变更卡 → 新旧差异/数量状态矩阵 → /to-spec → Spec → 测试骨架与方案裁决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208E09-A4C7-4DFA-89C9-6FABE7494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95650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33F492-8543-41F5-A4C5-7316A2460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1472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B6EFFB-DA9D-48AE-AC6C-D3A635436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51472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工具与入口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D8AAF6-A3A5-4BF2-B28A-A2FEDBC48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514725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16B"/>
                </a:solidFill>
              </a:defRPr>
            </a:pPr>
            <a:r>
              <a:rPr sz="1500" b="0">
                <a:solidFill>
                  <a:srgbClr val="5B616B"/>
                </a:solidFill>
              </a:rPr>
              <a:t>代码待同步；T02任务卡、UI契约、架构文档、/grill-with-docs、/to-spec、证据目录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A056AD-6B2D-4AC4-8A33-0464635EF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76700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40C79D-A491-4FDF-A577-D125B4262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9577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FC7F47-D1FE-4A00-808A-7CE2B4A54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29577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约束限制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EAA409-D9B0-4597-B5D4-B8FB03A32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295775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16B"/>
                </a:solidFill>
              </a:defRPr>
            </a:pPr>
            <a:r>
              <a:rPr sz="1500" b="0">
                <a:solidFill>
                  <a:srgbClr val="5B616B"/>
                </a:solidFill>
              </a:rPr>
              <a:t>禁止旧 s2/s3；UI截图或线框可辅助评审，但字段/状态/兼容规则必须写入Spec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0495B4-5CFC-4F05-B9BD-A313EBC4A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57750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3636D3-C302-4CA2-9D9E-3FC22BD04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7682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0EA52E-425F-40EB-A944-23E589E04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07682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完成证据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CA5431-CBB8-4019-8C39-687AA5FAE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076825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16B"/>
                </a:solidFill>
              </a:defRPr>
            </a:pPr>
            <a:r>
              <a:rPr sz="1500" b="0">
                <a:solidFill>
                  <a:srgbClr val="5B616B"/>
                </a:solidFill>
              </a:rPr>
              <a:t>批准 Spec + UI/API影响 + Given/When/Then + AI任务指令 + 阻塞清单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C28A77-A3BC-4E2B-B5D5-29D0706DB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638800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2502812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89667C-9DF9-454B-B618-12BC57578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B616B"/>
                </a:solidFill>
              </a:defRPr>
            </a:pPr>
            <a:r>
              <a:rPr sz="975" b="1">
                <a:solidFill>
                  <a:srgbClr val="5B616B"/>
                </a:solidFill>
              </a:rPr>
              <a:t>T02 · 具体操作 · AI工作流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89C78D-C8BF-4BCE-9860-BABB98BB8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028CA9-F6AA-4D78-8D2D-D1E665E80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198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B616B"/>
                </a:solidFill>
              </a:defRPr>
            </a:pPr>
            <a:r>
              <a:rPr sz="900" b="0">
                <a:solidFill>
                  <a:srgbClr val="5B616B"/>
                </a:solidFill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9A195A-3909-426D-8A27-BB0AF9E55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T02：先完成需求变更审核，再讨论实现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EF9578-2594-4026-90A3-8474F0380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AFB4EE-6537-401D-BFAE-8DA648351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95262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制作需求变更卡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DDE007-93BE-401B-8B5D-A12F8AC56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52625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16B"/>
                </a:solidFill>
              </a:defRPr>
            </a:pPr>
            <a:r>
              <a:rPr sz="1500" b="0">
                <a:solidFill>
                  <a:srgbClr val="5B616B"/>
                </a:solidFill>
              </a:rPr>
              <a:t>写原规则、新请求、业务场景；附UI线框/截图仅用于状态沟通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6914B3-C3E0-4ED5-BF4E-088628A80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14600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31AA44-67D5-49A1-893A-6D2CDACFE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3367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8CB430-4E65-4209-9180-96731D23C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3367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质询差异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0AE7A1-C157-4029-980F-A392DDECE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33675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16B"/>
                </a:solidFill>
              </a:defRPr>
            </a:pPr>
            <a:r>
              <a:rPr sz="1500" b="0">
                <a:solidFill>
                  <a:srgbClr val="5B616B"/>
                </a:solidFill>
              </a:rPr>
              <a:t>/grill-with-docs 追问本次/累计、状态、超收、幂等、并发与兼容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208E09-A4C7-4DFA-89C9-6FABE7494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95650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33F492-8543-41F5-A4C5-7316A2460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1472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B6EFFB-DA9D-48AE-AC6C-D3A635436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51472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冻结规格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D8AAF6-A3A5-4BF2-B28A-A2FEDBC48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514725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16B"/>
                </a:solidFill>
              </a:defRPr>
            </a:pPr>
            <a:r>
              <a:rPr sz="1500" b="0">
                <a:solidFill>
                  <a:srgbClr val="5B616B"/>
                </a:solidFill>
              </a:rPr>
              <a:t>/to-spec 形成数量/状态矩阵、UI/API影响、非目标和验收条件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A056AD-6B2D-4AC4-8A33-0464635EF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76700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40C79D-A491-4FDF-A577-D125B4262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9577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FC7F47-D1FE-4A00-808A-7CE2B4A54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29577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设计验证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EAA409-D9B0-4597-B5D4-B8FB03A32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295775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16B"/>
                </a:solidFill>
              </a:defRPr>
            </a:pPr>
            <a:r>
              <a:rPr sz="1500" b="0">
                <a:solidFill>
                  <a:srgbClr val="5B616B"/>
                </a:solidFill>
              </a:rPr>
              <a:t>QA写 Given/When/Then；AI只输出实施计划和候选方案，不改代码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0495B4-5CFC-4F05-B9BD-A313EBC4A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57750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3636D3-C302-4CA2-9D9E-3FC22BD04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7682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0EA52E-425F-40EB-A944-23E589E04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07682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人工放行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CA5431-CBB8-4019-8C39-687AA5FAE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076825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16B"/>
                </a:solidFill>
              </a:defRPr>
            </a:pPr>
            <a:r>
              <a:rPr sz="1500" b="0">
                <a:solidFill>
                  <a:srgbClr val="5B616B"/>
                </a:solidFill>
              </a:rPr>
              <a:t>四方批准 Spec 或记录 BLOCKED；代码标签同步后才进入实施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C28A77-A3BC-4E2B-B5D5-29D0706DB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638800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2502812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E9ABE0-930B-4819-81FA-0ADD7B2AB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B616B"/>
                </a:solidFill>
              </a:defRPr>
            </a:pPr>
            <a:r>
              <a:rPr sz="975" b="1">
                <a:solidFill>
                  <a:srgbClr val="5B616B"/>
                </a:solidFill>
              </a:rPr>
              <a:t>T02 · 具体操作 · 工具与入口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7EE738-BC1F-41F6-96A1-BAC16ED06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0C4B92-D61A-45F9-B3FB-159770601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198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B616B"/>
                </a:solidFill>
              </a:defRPr>
            </a:pPr>
            <a:r>
              <a:rPr sz="900" b="0">
                <a:solidFill>
                  <a:srgbClr val="5B616B"/>
                </a:solidFill>
              </a:rPr>
              <a:t>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02E891-1A62-434E-896A-6A0F9D561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T02：需求、UI契约和代码入口必须分开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99037F-4477-487C-AD48-3039F180D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52578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39B4CA-94E6-4116-8924-02604A09D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05000"/>
            <a:ext cx="54864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E2D6BA-CC69-4913-A634-03AA971E3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项目与文档入口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013190-B0B5-45D5-BBE9-987BEB898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098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6FB637-1B86-406C-A5B9-3B92EE9DC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67000"/>
            <a:ext cx="4210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T02分批收货任务卡与需求变更卡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11221E-A2AC-45A8-869A-98BDAB781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004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4F0342-C355-4D58-BD2E-768AD8C2C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57550"/>
            <a:ext cx="4210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06_UI静态契约包、architecture.md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2B7617-FB1B-4FBB-9D51-95EA67A6D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909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6DF56E-A633-43D6-9550-5A33AB54A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48100"/>
            <a:ext cx="4210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入库请求/响应、状态与库存入口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62E5F3-3AA1-4320-BF37-913296954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815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19EFA1-110F-49C6-B007-0594E11C4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38650"/>
            <a:ext cx="4210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新代码标签待创建；旧T02标签禁用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A2C1E7-1178-448B-95E1-43252F3C1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95500"/>
            <a:ext cx="466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3D8DFF"/>
                </a:solidFill>
              </a:defRPr>
            </a:pPr>
            <a:r>
              <a:rPr sz="1875" b="1">
                <a:solidFill>
                  <a:srgbClr val="3D8DFF"/>
                </a:solidFill>
              </a:rPr>
              <a:t>AI、验证与证据入口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62DF67-C8C3-429B-ABE7-30AF3A1D1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098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9B1E03-EC94-434C-AD4E-67457F1BF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667000"/>
            <a:ext cx="440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/grill-with-docs → /to-spec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2C2385-32A7-49E9-A555-CD83E856E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004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1CD614-B7C4-4CB5-903D-12C7391F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257550"/>
            <a:ext cx="440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已批准 Spec 版本与审批记录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F5F157-ED0A-49ED-8AEE-B6F3646F9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909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B5098F-3A7D-4433-AC8F-77A9B323A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48100"/>
            <a:ext cx="440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UI线框或截图推荐；文字契约强制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2FD421-2C9B-4ADC-9F4E-152EBDFEF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5815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7E0BF9-248D-4D1E-8406-9F9887B61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438650"/>
            <a:ext cx="440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evidence/T02：差异、矩阵、测试骨架</a:t>
            </a:r>
          </a:p>
        </p:txBody>
      </p:sp>
    </p:spTree>
    <p:extLst>
      <p:ext uri="{BB962C8B-B14F-4D97-AF65-F5344CB8AC3E}">
        <p14:creationId xmlns:p14="http://schemas.microsoft.com/office/powerpoint/2010/main" val="54706146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E95D05-9987-48FF-A737-2368CDC5F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B616B"/>
                </a:solidFill>
              </a:defRPr>
            </a:pPr>
            <a:r>
              <a:rPr sz="975" b="1">
                <a:solidFill>
                  <a:srgbClr val="5B616B"/>
                </a:solidFill>
              </a:rPr>
              <a:t>T02 · 具体操作 · 约束与限制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946F26-F55C-4367-9F7B-142E63512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F49026-A750-46B6-9F20-B8468C369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198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B616B"/>
                </a:solidFill>
              </a:defRPr>
            </a:pPr>
            <a:r>
              <a:rPr sz="900" b="0">
                <a:solidFill>
                  <a:srgbClr val="5B616B"/>
                </a:solidFill>
              </a:rPr>
              <a:t>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386817-E76D-40B4-B54F-C4C62AA18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T02：边界、停止条件和验收门槛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066C9F-6053-4643-B9A1-AB81F56E2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952625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3D8DFF"/>
                </a:solidFill>
              </a:defRPr>
            </a:pPr>
            <a:r>
              <a:rPr sz="1875" b="1">
                <a:solidFill>
                  <a:srgbClr val="3D8DFF"/>
                </a:solidFill>
              </a:rPr>
              <a:t>允许产出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173CC6-0B1B-4227-A19E-81C12AF50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52625"/>
            <a:ext cx="752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B616B"/>
                </a:solidFill>
              </a:defRPr>
            </a:pPr>
            <a:r>
              <a:rPr sz="1575" b="0">
                <a:solidFill>
                  <a:srgbClr val="5B616B"/>
                </a:solidFill>
              </a:rPr>
              <a:t>需求卡、状态矩阵、UI/API影响、测试骨架和AI任务指令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1681C8-0555-4668-8140-0D57EFA66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38425"/>
            <a:ext cx="10239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7F50C2-DA6C-4EBB-81DE-F2A0C59A3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05125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禁止事项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4F3D80-0F65-46ED-BE26-D23895C58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905125"/>
            <a:ext cx="752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B616B"/>
                </a:solidFill>
              </a:defRPr>
            </a:pPr>
            <a:r>
              <a:rPr sz="1575" b="0">
                <a:solidFill>
                  <a:srgbClr val="5B616B"/>
                </a:solidFill>
              </a:rPr>
              <a:t>不使用旧标签编码；不让AI决定超收、并发、幂等或兼容语义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D6FE92-3891-416F-A425-19B98907A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590925"/>
            <a:ext cx="10239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7C9571-CCDB-4392-8A9B-A28CD60F9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857625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停止条件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FBECE8-F5FB-4C42-86DC-0664F15DD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857625"/>
            <a:ext cx="752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B616B"/>
                </a:solidFill>
              </a:defRPr>
            </a:pPr>
            <a:r>
              <a:rPr sz="1575" b="0">
                <a:solidFill>
                  <a:srgbClr val="5B616B"/>
                </a:solidFill>
              </a:rPr>
              <a:t>数量口径、部分状态、旧客户端策略或所有权未批准时停止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872733-EDE5-49E2-BBE9-AFF31B1C2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43425"/>
            <a:ext cx="10239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643C74-EF78-4376-A6A3-5E6E0469E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810125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验收门槛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B2DA0A-FC16-438A-8A4D-7D824915B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810125"/>
            <a:ext cx="752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B616B"/>
                </a:solidFill>
              </a:defRPr>
            </a:pPr>
            <a:r>
              <a:rPr sz="1575" b="0">
                <a:solidFill>
                  <a:srgbClr val="5B616B"/>
                </a:solidFill>
              </a:rPr>
              <a:t>每条新规则可映射到测试；截图不能代替字段、状态和错误契约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C74D18-43A7-4234-BB74-8A3FE49BE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95925"/>
            <a:ext cx="10239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6432852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E95D05-9987-48FF-A737-2368CDC5F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B616B"/>
                </a:solidFill>
              </a:defRPr>
            </a:pPr>
            <a:r>
              <a:rPr sz="975" b="1">
                <a:solidFill>
                  <a:srgbClr val="5B616B"/>
                </a:solidFill>
              </a:rPr>
              <a:t>期望结果 · T02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946F26-F55C-4367-9F7B-142E63512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F49026-A750-46B6-9F20-B8468C369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198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B616B"/>
                </a:solidFill>
              </a:defRPr>
            </a:pPr>
            <a:r>
              <a:rPr sz="900" b="0">
                <a:solidFill>
                  <a:srgbClr val="5B616B"/>
                </a:solidFill>
              </a:rPr>
              <a:t>21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386817-E76D-40B4-B54F-C4C62AA18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分批收货规则可追溯，代码同步前边界已冻结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066C9F-6053-4643-B9A1-AB81F56E2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952625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3D8DFF"/>
                </a:solidFill>
              </a:defRPr>
            </a:pPr>
            <a:r>
              <a:rPr sz="1875" b="1">
                <a:solidFill>
                  <a:srgbClr val="3D8DFF"/>
                </a:solidFill>
              </a:rPr>
              <a:t>业务行为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173CC6-0B1B-4227-A19E-81C12AF50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52625"/>
            <a:ext cx="752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B616B"/>
                </a:solidFill>
              </a:defRPr>
            </a:pPr>
            <a:r>
              <a:rPr sz="1575" b="0">
                <a:solidFill>
                  <a:srgbClr val="5B616B"/>
                </a:solidFill>
              </a:rPr>
              <a:t>部分收货进入 PARTIALLY_RECEIVED；累计收满进入 RECEIVED；库存按批增加。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1681C8-0555-4668-8140-0D57EFA66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38425"/>
            <a:ext cx="10239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7F50C2-DA6C-4EBB-81DE-F2A0C59A3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05125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异常边界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4F3D80-0F65-46ED-BE26-D23895C58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905125"/>
            <a:ext cx="752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B616B"/>
                </a:solidFill>
              </a:defRPr>
            </a:pPr>
            <a:r>
              <a:rPr sz="1575" b="0">
                <a:solidFill>
                  <a:srgbClr val="5B616B"/>
                </a:solidFill>
              </a:rPr>
              <a:t>超收整次拒绝；同键同量重放，同键异量冲突；并发最后一批不得超收。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D6FE92-3891-416F-A425-19B98907A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590925"/>
            <a:ext cx="10239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7C9571-CCDB-4392-8A9B-A28CD60F9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857625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工程质量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FBECE8-F5FB-4C42-86DC-0664F15DD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857625"/>
            <a:ext cx="752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B616B"/>
                </a:solidFill>
              </a:defRPr>
            </a:pPr>
            <a:r>
              <a:rPr sz="1575" b="0">
                <a:solidFill>
                  <a:srgbClr val="5B616B"/>
                </a:solidFill>
              </a:rPr>
              <a:t>入库单、库存、审计同事务；平台与 UI 契约未经批准不得修改。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872733-EDE5-49E2-BBE9-AFF31B1C2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43425"/>
            <a:ext cx="10239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643C74-EF78-4376-A6A3-5E6E0469E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810125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验收证据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B2DA0A-FC16-438A-8A4D-7D824915B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810125"/>
            <a:ext cx="752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B616B"/>
                </a:solidFill>
              </a:defRPr>
            </a:pPr>
            <a:r>
              <a:rPr sz="1575" b="0">
                <a:solidFill>
                  <a:srgbClr val="5B616B"/>
                </a:solidFill>
              </a:rPr>
              <a:t>Spec、矩阵、测试骨架、兼容方案和代码待同步项可逐条核验。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C74D18-43A7-4234-BB74-8A3FE49BE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95925"/>
            <a:ext cx="10239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6432852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E95D05-9987-48FF-A737-2368CDC5F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B616B"/>
                </a:solidFill>
              </a:defRPr>
            </a:pPr>
            <a:r>
              <a:rPr sz="975" b="1">
                <a:solidFill>
                  <a:srgbClr val="5B616B"/>
                </a:solidFill>
              </a:rPr>
              <a:t>理论讲解 · T03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946F26-F55C-4367-9F7B-142E63512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F49026-A750-46B6-9F20-B8468C369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198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B616B"/>
                </a:solidFill>
              </a:defRPr>
            </a:pPr>
            <a:r>
              <a:rPr sz="900" b="0">
                <a:solidFill>
                  <a:srgbClr val="5B616B"/>
                </a:solidFill>
              </a:rPr>
              <a:t>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386817-E76D-40B4-B54F-C4C62AA18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从 0 新建：先补齐业务语义，再设计实现路径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066C9F-6053-4643-B9A1-AB81F56E2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952625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3D8DFF"/>
                </a:solidFill>
              </a:defRPr>
            </a:pPr>
            <a:r>
              <a:rPr sz="1875" b="1">
                <a:solidFill>
                  <a:srgbClr val="3D8DFF"/>
                </a:solidFill>
              </a:rPr>
              <a:t>业务问题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173CC6-0B1B-4227-A19E-81C12AF50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52625"/>
            <a:ext cx="752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B616B"/>
                </a:solidFill>
              </a:defRPr>
            </a:pPr>
            <a:r>
              <a:rPr sz="1575" b="0">
                <a:solidFill>
                  <a:srgbClr val="5B616B"/>
                </a:solidFill>
              </a:rPr>
              <a:t>仓库补货或整理库位时要移动可用库存；需要让来源扣减、目标增加、双流水与审计原子完成。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1681C8-0555-4668-8140-0D57EFA66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38425"/>
            <a:ext cx="10239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7F50C2-DA6C-4EBB-81DE-F2A0C59A3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05125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为什么易错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4F3D80-0F65-46ED-BE26-D23895C58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905125"/>
            <a:ext cx="752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B616B"/>
                </a:solidFill>
              </a:defRPr>
            </a:pPr>
            <a:r>
              <a:rPr sz="1575" b="0">
                <a:solidFill>
                  <a:srgbClr val="5B616B"/>
                </a:solidFill>
              </a:rPr>
              <a:t>AI 会自行决定是否跨仓、移动可用还是总量、失败是否回滚，以及锁和幂等策略。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D6FE92-3891-416F-A425-19B98907A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590925"/>
            <a:ext cx="10239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7C9571-CCDB-4392-8A9B-A28CD60F9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857625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推荐方法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FBECE8-F5FB-4C42-86DC-0664F15DD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857625"/>
            <a:ext cx="752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B616B"/>
                </a:solidFill>
              </a:defRPr>
            </a:pPr>
            <a:r>
              <a:rPr sz="1575" b="0">
                <a:solidFill>
                  <a:srgbClr val="5B616B"/>
                </a:solidFill>
              </a:rPr>
              <a:t>先确认范围与不变量，再设计单事务、固定锁顺序、双流水、幂等和统一业务入口。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872733-EDE5-49E2-BBE9-AFF31B1C2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43425"/>
            <a:ext cx="10239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643C74-EF78-4376-A6A3-5E6E0469E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810125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质量结果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B2DA0A-FC16-438A-8A4D-7D824915B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810125"/>
            <a:ext cx="752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B616B"/>
                </a:solidFill>
              </a:defRPr>
            </a:pPr>
            <a:r>
              <a:rPr sz="1575" b="0">
                <a:solidFill>
                  <a:srgbClr val="5B616B"/>
                </a:solidFill>
              </a:rPr>
              <a:t>需求、设计和测试骨架先获得批准；实现只覆盖已确认的核心路径。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C74D18-43A7-4234-BB74-8A3FE49BE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95925"/>
            <a:ext cx="10239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6432852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89667C-9DF9-454B-B618-12BC57578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B616B"/>
                </a:solidFill>
              </a:defRPr>
            </a:pPr>
            <a:r>
              <a:rPr sz="975" b="1">
                <a:solidFill>
                  <a:srgbClr val="5B616B"/>
                </a:solidFill>
              </a:rPr>
              <a:t>T03 · 从 0 新建 · 任务路线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89C78D-C8BF-4BCE-9860-BABB98BB8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028CA9-F6AA-4D78-8D2D-D1E665E80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198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B616B"/>
                </a:solidFill>
              </a:defRPr>
            </a:pPr>
            <a:r>
              <a:rPr sz="900" b="0">
                <a:solidFill>
                  <a:srgbClr val="5B616B"/>
                </a:solidFill>
              </a:rPr>
              <a:t>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9A195A-3909-426D-8A27-BB0AF9E55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设计并实现“同仓库库内移库”核心路径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EF9578-2594-4026-90A3-8474F0380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AFB4EE-6537-401D-BFAE-8DA648351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95262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任务目标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DDE007-93BE-401B-8B5D-A12F8AC56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52625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16B"/>
                </a:solidFill>
              </a:defRPr>
            </a:pPr>
            <a:r>
              <a:rPr sz="1500" b="0">
                <a:solidFill>
                  <a:srgbClr val="5B616B"/>
                </a:solidFill>
              </a:rPr>
              <a:t>从 0 建立同仓不同库位、只移动可用量的移库能力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6914B3-C3E0-4ED5-BF4E-088628A80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14600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31AA44-67D5-49A1-893A-6D2CDACFE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3367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8CB430-4E65-4209-9180-96731D23C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3367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解决方式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0AE7A1-C157-4029-980F-A392DDECE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33675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16B"/>
                </a:solidFill>
              </a:defRPr>
            </a:pPr>
            <a:r>
              <a:rPr sz="1500" b="0">
                <a:solidFill>
                  <a:srgbClr val="5B616B"/>
                </a:solidFill>
              </a:rPr>
              <a:t>需求卡/仓库示意 → 语义质询 → /to-spec → 领域/API设计 → /to-tickets → 测试骨架 → 实现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208E09-A4C7-4DFA-89C9-6FABE7494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95650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33F492-8543-41F5-A4C5-7316A2460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1472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B6EFFB-DA9D-48AE-AC6C-D3A635436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51472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工具与入口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D8AAF6-A3A5-4BF2-B28A-A2FEDBC48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514725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16B"/>
                </a:solidFill>
              </a:defRPr>
            </a:pPr>
            <a:r>
              <a:rPr sz="1500" b="0">
                <a:solidFill>
                  <a:srgbClr val="5B616B"/>
                </a:solidFill>
              </a:rPr>
              <a:t>s2-t03-start；T03任务卡、architecture、UI契约、库存接口、五步Skills、Docker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A056AD-6B2D-4AC4-8A33-0464635EF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76700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40C79D-A491-4FDF-A577-D125B4262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9577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FC7F47-D1FE-4A00-808A-7CE2B4A54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29577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约束限制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EAA409-D9B0-4597-B5D4-B8FB03A32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295775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16B"/>
                </a:solidFill>
              </a:defRPr>
            </a:pPr>
            <a:r>
              <a:rPr sz="1500" b="0">
                <a:solidFill>
                  <a:srgbClr val="5B616B"/>
                </a:solidFill>
              </a:rPr>
              <a:t>只做同仓不同库位且只移可用量；禁止用两次HTTP拼移库或先后提交两端库存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0495B4-5CFC-4F05-B9BD-A313EBC4A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57750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3636D3-C302-4CA2-9D9E-3FC22BD04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7682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0EA52E-425F-40EB-A944-23E589E04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07682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完成证据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CA5431-CBB8-4019-8C39-687AA5FAE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076825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16B"/>
                </a:solidFill>
              </a:defRPr>
            </a:pPr>
            <a:r>
              <a:rPr sz="1500" b="0">
                <a:solidFill>
                  <a:srgbClr val="5B616B"/>
                </a:solidFill>
              </a:rPr>
              <a:t>批准设计 + API/事务/锁说明 + 正反测试 + 双流水/幂等证据 + 实现 Diff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C28A77-A3BC-4E2B-B5D5-29D0706DB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638800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2502812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89667C-9DF9-454B-B618-12BC57578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B616B"/>
                </a:solidFill>
              </a:defRPr>
            </a:pPr>
            <a:r>
              <a:rPr sz="975" b="1">
                <a:solidFill>
                  <a:srgbClr val="5B616B"/>
                </a:solidFill>
              </a:rPr>
              <a:t>T03 · 具体操作 · AI工作流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89C78D-C8BF-4BCE-9860-BABB98BB8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028CA9-F6AA-4D78-8D2D-D1E665E80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198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B616B"/>
                </a:solidFill>
              </a:defRPr>
            </a:pPr>
            <a:r>
              <a:rPr sz="900" b="0">
                <a:solidFill>
                  <a:srgbClr val="5B616B"/>
                </a:solidFill>
              </a:rPr>
              <a:t>24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9A195A-3909-426D-8A27-BB0AF9E55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T03：从一句需求建立可实施的移库能力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EF9578-2594-4026-90A3-8474F0380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AFB4EE-6537-401D-BFAE-8DA648351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95262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制作需求卡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DDE007-93BE-401B-8B5D-A12F8AC56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52625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16B"/>
                </a:solidFill>
              </a:defRPr>
            </a:pPr>
            <a:r>
              <a:rPr sz="1500" b="0">
                <a:solidFill>
                  <a:srgbClr val="5B616B"/>
                </a:solidFill>
              </a:rPr>
              <a:t>描述补货/整理场景；可附库位示意图，明确原始一句话与未知项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6914B3-C3E0-4ED5-BF4E-088628A80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14600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31AA44-67D5-49A1-893A-6D2CDACFE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3367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8CB430-4E65-4209-9180-96731D23C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3367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澄清业务语义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0AE7A1-C157-4029-980F-A392DDECE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33675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16B"/>
                </a:solidFill>
              </a:defRPr>
            </a:pPr>
            <a:r>
              <a:rPr sz="1500" b="0">
                <a:solidFill>
                  <a:srgbClr val="5B616B"/>
                </a:solidFill>
              </a:rPr>
              <a:t>/grill-with-docs 追问跨仓、库存口径、失败方式、幂等、并发与审计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208E09-A4C7-4DFA-89C9-6FABE7494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95650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33F492-8543-41F5-A4C5-7316A2460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1472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B6EFFB-DA9D-48AE-AC6C-D3A635436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51472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完成设计Spec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D8AAF6-A3A5-4BF2-B28A-A2FEDBC48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514725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16B"/>
                </a:solidFill>
              </a:defRPr>
            </a:pPr>
            <a:r>
              <a:rPr sz="1500" b="0">
                <a:solidFill>
                  <a:srgbClr val="5B616B"/>
                </a:solidFill>
              </a:rPr>
              <a:t>/to-spec 定义命令、API、事务、锁顺序、双流水、测试接缝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A056AD-6B2D-4AC4-8A33-0464635EF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76700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40C79D-A491-4FDF-A577-D125B4262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9577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FC7F47-D1FE-4A00-808A-7CE2B4A54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29577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拆分并实施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EAA409-D9B0-4597-B5D4-B8FB03A32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295775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16B"/>
                </a:solidFill>
              </a:defRPr>
            </a:pPr>
            <a:r>
              <a:rPr sz="1500" b="0">
                <a:solidFill>
                  <a:srgbClr val="5B616B"/>
                </a:solidFill>
              </a:rPr>
              <a:t>/to-tickets 切可验证行为；/implement 按测试骨架完成核心路径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0495B4-5CFC-4F05-B9BD-A313EBC4A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57750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3636D3-C302-4CA2-9D9E-3FC22BD04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7682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0EA52E-425F-40EB-A944-23E589E04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07682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验证与评审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CA5431-CBB8-4019-8C39-687AA5FAE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076825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16B"/>
                </a:solidFill>
              </a:defRPr>
            </a:pPr>
            <a:r>
              <a:rPr sz="1500" b="0">
                <a:solidFill>
                  <a:srgbClr val="5B616B"/>
                </a:solidFill>
              </a:rPr>
              <a:t>正常/失败/重放/并发 + 全量回归；/code-review 双轴裁决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C28A77-A3BC-4E2B-B5D5-29D0706DB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638800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2502812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E9ABE0-930B-4819-81FA-0ADD7B2AB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B616B"/>
                </a:solidFill>
              </a:defRPr>
            </a:pPr>
            <a:r>
              <a:rPr sz="975" b="1">
                <a:solidFill>
                  <a:srgbClr val="5B616B"/>
                </a:solidFill>
              </a:rPr>
              <a:t>T03 · 具体操作 · 工具与入口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7EE738-BC1F-41F6-96A1-BAC16ED06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0C4B92-D61A-45F9-B3FB-159770601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198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B616B"/>
                </a:solidFill>
              </a:defRPr>
            </a:pPr>
            <a:r>
              <a:rPr sz="900" b="0">
                <a:solidFill>
                  <a:srgbClr val="5B616B"/>
                </a:solidFill>
              </a:rPr>
              <a:t>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02E891-1A62-434E-896A-6A0F9D561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T03：新需求需要四类入口同时就绪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99037F-4477-487C-AD48-3039F180D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52578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39B4CA-94E6-4116-8924-02604A09D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05000"/>
            <a:ext cx="54864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E2D6BA-CC69-4913-A634-03AA971E3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项目与文档入口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013190-B0B5-45D5-BBE9-987BEB898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098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6FB637-1B86-406C-A5B9-3B92EE9DC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67000"/>
            <a:ext cx="4210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s2-t03-start / group-XX/t03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11221E-A2AC-45A8-869A-98BDAB781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004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4F0342-C355-4D58-BD2E-768AD8C2C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57550"/>
            <a:ext cx="4210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T03任务卡、architecture、UI契约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2B7617-FB1B-4FBB-9D51-95EA67A6D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909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6DF56E-A633-43D6-9550-5A33AB54A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48100"/>
            <a:ext cx="4210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InventoryOperations 与库存领域模型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62E5F3-3AA1-4320-BF37-913296954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815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19EFA1-110F-49C6-B007-0594E11C4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38650"/>
            <a:ext cx="4210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API示例、测试目录、Docker环境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A2C1E7-1178-448B-95E1-43252F3C1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95500"/>
            <a:ext cx="466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3D8DFF"/>
                </a:solidFill>
              </a:defRPr>
            </a:pPr>
            <a:r>
              <a:rPr sz="1875" b="1">
                <a:solidFill>
                  <a:srgbClr val="3D8DFF"/>
                </a:solidFill>
              </a:rPr>
              <a:t>AI、验证与证据入口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62DF67-C8C3-429B-ABE7-30AF3A1D1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098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9B1E03-EC94-434C-AD4E-67457F1BF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667000"/>
            <a:ext cx="440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/grill-with-docs → /to-spec → /to-tickets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2C2385-32A7-49E9-A555-CD83E856E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004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1CD614-B7C4-4CB5-903D-12C7391F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257550"/>
            <a:ext cx="440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/implement → /code-review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F5F157-ED0A-49ED-8AEE-B6F3646F9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909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B5098F-3A7D-4433-AC8F-77A9B323A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48100"/>
            <a:ext cx="440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库位示意图可选；API/领域设计文档必交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2FD421-2C9B-4ADC-9F4E-152EBDFEF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5815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7E0BF9-248D-4D1E-8406-9F9887B61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438650"/>
            <a:ext cx="440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Spec、Tickets、测试与Diff进入evidence</a:t>
            </a:r>
          </a:p>
        </p:txBody>
      </p:sp>
    </p:spTree>
    <p:extLst>
      <p:ext uri="{BB962C8B-B14F-4D97-AF65-F5344CB8AC3E}">
        <p14:creationId xmlns:p14="http://schemas.microsoft.com/office/powerpoint/2010/main" val="54706146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E95D05-9987-48FF-A737-2368CDC5F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B616B"/>
                </a:solidFill>
              </a:defRPr>
            </a:pPr>
            <a:r>
              <a:rPr sz="975" b="1">
                <a:solidFill>
                  <a:srgbClr val="5B616B"/>
                </a:solidFill>
              </a:rPr>
              <a:t>T03 · 具体操作 · 约束与限制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946F26-F55C-4367-9F7B-142E63512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F49026-A750-46B6-9F20-B8468C369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198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B616B"/>
                </a:solidFill>
              </a:defRPr>
            </a:pPr>
            <a:r>
              <a:rPr sz="900" b="0">
                <a:solidFill>
                  <a:srgbClr val="5B616B"/>
                </a:solidFill>
              </a:rPr>
              <a:t>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386817-E76D-40B4-B54F-C4C62AA18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T03：边界、停止条件和验收门槛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066C9F-6053-4643-B9A1-AB81F56E2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952625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3D8DFF"/>
                </a:solidFill>
              </a:defRPr>
            </a:pPr>
            <a:r>
              <a:rPr sz="1875" b="1">
                <a:solidFill>
                  <a:srgbClr val="3D8DFF"/>
                </a:solidFill>
              </a:rPr>
              <a:t>允许修改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173CC6-0B1B-4227-A19E-81C12AF50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52625"/>
            <a:ext cx="752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B616B"/>
                </a:solidFill>
              </a:defRPr>
            </a:pPr>
            <a:r>
              <a:rPr sz="1575" b="0">
                <a:solidFill>
                  <a:srgbClr val="5B616B"/>
                </a:solidFill>
              </a:rPr>
              <a:t>仓储库存领域、Web适配器和测试；平台能力只读复用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1681C8-0555-4668-8140-0D57EFA66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38425"/>
            <a:ext cx="10239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7F50C2-DA6C-4EBB-81DE-F2A0C59A3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05125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禁止事项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4F3D80-0F65-46ED-BE26-D23895C58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905125"/>
            <a:ext cx="752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B616B"/>
                </a:solidFill>
              </a:defRPr>
            </a:pPr>
            <a:r>
              <a:rPr sz="1575" b="0">
                <a:solidFill>
                  <a:srgbClr val="5B616B"/>
                </a:solidFill>
              </a:rPr>
              <a:t>不跨仓、不移动预占、不部分成功、不用出库+入库拼接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D6FE92-3891-416F-A425-19B98907A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590925"/>
            <a:ext cx="10239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7C9571-CCDB-4392-8A9B-A28CD60F9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857625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停止条件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FBECE8-F5FB-4C42-86DC-0664F15DD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857625"/>
            <a:ext cx="752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B616B"/>
                </a:solidFill>
              </a:defRPr>
            </a:pPr>
            <a:r>
              <a:rPr sz="1575" b="0">
                <a:solidFill>
                  <a:srgbClr val="5B616B"/>
                </a:solidFill>
              </a:rPr>
              <a:t>库存口径、目标库位、锁顺序或事务边界未批准时不实施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872733-EDE5-49E2-BBE9-AFF31B1C2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43425"/>
            <a:ext cx="10239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643C74-EF78-4376-A6A3-5E6E0469E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810125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验收门槛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B2DA0A-FC16-438A-8A4D-7D824915B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810125"/>
            <a:ext cx="752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B616B"/>
                </a:solidFill>
              </a:defRPr>
            </a:pPr>
            <a:r>
              <a:rPr sz="1575" b="0">
                <a:solidFill>
                  <a:srgbClr val="5B616B"/>
                </a:solidFill>
              </a:rPr>
              <a:t>两端数量、双流水、幂等、失败回滚和并发均有可执行证据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C74D18-43A7-4234-BB74-8A3FE49BE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95925"/>
            <a:ext cx="10239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6432852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E95D05-9987-48FF-A737-2368CDC5F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B616B"/>
                </a:solidFill>
              </a:defRPr>
            </a:pPr>
            <a:r>
              <a:rPr sz="975" b="1">
                <a:solidFill>
                  <a:srgbClr val="5B616B"/>
                </a:solidFill>
              </a:rPr>
              <a:t>期望结果 · T03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946F26-F55C-4367-9F7B-142E63512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F49026-A750-46B6-9F20-B8468C369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198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B616B"/>
                </a:solidFill>
              </a:defRPr>
            </a:pPr>
            <a:r>
              <a:rPr sz="900" b="0">
                <a:solidFill>
                  <a:srgbClr val="5B616B"/>
                </a:solidFill>
              </a:rPr>
              <a:t>27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386817-E76D-40B4-B54F-C4C62AA18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移库核心行为、失败边界和设计依据都可审查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066C9F-6053-4643-B9A1-AB81F56E2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952625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3D8DFF"/>
                </a:solidFill>
              </a:defRPr>
            </a:pPr>
            <a:r>
              <a:rPr sz="1875" b="1">
                <a:solidFill>
                  <a:srgbClr val="3D8DFF"/>
                </a:solidFill>
              </a:rPr>
              <a:t>业务行为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173CC6-0B1B-4227-A19E-81C12AF50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52625"/>
            <a:ext cx="752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B616B"/>
                </a:solidFill>
              </a:defRPr>
            </a:pPr>
            <a:r>
              <a:rPr sz="1575" b="0">
                <a:solidFill>
                  <a:srgbClr val="5B616B"/>
                </a:solidFill>
              </a:rPr>
              <a:t>源库位 10 移 6 后为 4，目标库位增加为 6，并生成对应双流水。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1681C8-0555-4668-8140-0D57EFA66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38425"/>
            <a:ext cx="10239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7F50C2-DA6C-4EBB-81DE-F2A0C59A3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05125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异常边界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4F3D80-0F65-46ED-BE26-D23895C58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905125"/>
            <a:ext cx="752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B616B"/>
                </a:solidFill>
              </a:defRPr>
            </a:pPr>
            <a:r>
              <a:rPr sz="1575" b="0">
                <a:solidFill>
                  <a:srgbClr val="5B616B"/>
                </a:solidFill>
              </a:rPr>
              <a:t>不足量、同库位或任一步失败都不写入；重复请求返回首次结果。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D6FE92-3891-416F-A425-19B98907A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590925"/>
            <a:ext cx="10239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7C9571-CCDB-4392-8A9B-A28CD60F9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857625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工程质量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FBECE8-F5FB-4C42-86DC-0664F15DD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857625"/>
            <a:ext cx="752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B616B"/>
                </a:solidFill>
              </a:defRPr>
            </a:pPr>
            <a:r>
              <a:rPr sz="1575" b="0">
                <a:solidFill>
                  <a:srgbClr val="5B616B"/>
                </a:solidFill>
              </a:rPr>
              <a:t>固定锁顺序并通过 InventoryOperations 进入业务，不用两个 HTTP 请求拼接。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872733-EDE5-49E2-BBE9-AFF31B1C2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43425"/>
            <a:ext cx="10239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643C74-EF78-4376-A6A3-5E6E0469E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810125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验收证据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B2DA0A-FC16-438A-8A4D-7D824915B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810125"/>
            <a:ext cx="752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B616B"/>
                </a:solidFill>
              </a:defRPr>
            </a:pPr>
            <a:r>
              <a:rPr sz="1575" b="0">
                <a:solidFill>
                  <a:srgbClr val="5B616B"/>
                </a:solidFill>
              </a:rPr>
              <a:t>课堂交付批准 Spec 与测试骨架；参考答案分支有 11 个业务测试。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C74D18-43A7-4234-BB74-8A3FE49BE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95925"/>
            <a:ext cx="10239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64328520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08855D-8AED-4B3A-9C40-11D2F91A1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M3 · 形成证据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5E51CE-BAA2-4841-84C3-75E74C8B2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1028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让测试证明行为，让评审约束设计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4A350B-2493-40DE-9D1A-686D4608E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8858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C9CDD3"/>
                </a:solidFill>
              </a:defRPr>
            </a:pPr>
            <a:r>
              <a:rPr sz="1650" b="0">
                <a:solidFill>
                  <a:srgbClr val="C9CDD3"/>
                </a:solidFill>
              </a:rPr>
              <a:t>用高风险测试证明行为，用双轴评审约束设计。</a:t>
            </a:r>
          </a:p>
        </p:txBody>
      </p:sp>
    </p:spTree>
    <p:extLst>
      <p:ext uri="{BB962C8B-B14F-4D97-AF65-F5344CB8AC3E}">
        <p14:creationId xmlns:p14="http://schemas.microsoft.com/office/powerpoint/2010/main" val="1134740470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89667C-9DF9-454B-B618-12BC57578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B616B"/>
                </a:solidFill>
              </a:defRPr>
            </a:pPr>
            <a:r>
              <a:rPr sz="975" b="1">
                <a:solidFill>
                  <a:srgbClr val="5B616B"/>
                </a:solidFill>
              </a:rPr>
              <a:t>模块三 · 理论讲解 · 风险测试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89C78D-C8BF-4BCE-9860-BABB98BB8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028CA9-F6AA-4D78-8D2D-D1E665E80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198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B616B"/>
                </a:solidFill>
              </a:defRPr>
            </a:pPr>
            <a:r>
              <a:rPr sz="900" b="0">
                <a:solidFill>
                  <a:srgbClr val="5B616B"/>
                </a:solidFill>
              </a:rPr>
              <a:t>29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9A195A-3909-426D-8A27-BB0AF9E55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有效测试优先覆盖五类高风险错误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EF9578-2594-4026-90A3-8474F0380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AFB4EE-6537-401D-BFAE-8DA648351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95262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数值边界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DDE007-93BE-401B-8B5D-A12F8AC56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52625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16B"/>
                </a:solidFill>
              </a:defRPr>
            </a:pPr>
            <a:r>
              <a:rPr sz="1500" b="0">
                <a:solidFill>
                  <a:srgbClr val="5B616B"/>
                </a:solidFill>
              </a:rPr>
              <a:t>最大值再加 1：拒绝，余额不能变负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6914B3-C3E0-4ED5-BF4E-088628A80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14600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31AA44-67D5-49A1-893A-6D2CDACFE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3367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8CB430-4E65-4209-9180-96731D23C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3367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事务回滚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0AE7A1-C157-4029-980F-A392DDECE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33675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16B"/>
                </a:solidFill>
              </a:defRPr>
            </a:pPr>
            <a:r>
              <a:rPr sz="1500" b="0">
                <a:solidFill>
                  <a:srgbClr val="5B616B"/>
                </a:solidFill>
              </a:rPr>
              <a:t>后半步失败：库存与业务单据不留半成品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208E09-A4C7-4DFA-89C9-6FABE7494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95650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33F492-8543-41F5-A4C5-7316A2460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1472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B6EFFB-DA9D-48AE-AC6C-D3A635436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51472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幂等重放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D8AAF6-A3A5-4BF2-B28A-A2FEDBC48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514725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16B"/>
                </a:solidFill>
              </a:defRPr>
            </a:pPr>
            <a:r>
              <a:rPr sz="1500" b="0">
                <a:solidFill>
                  <a:srgbClr val="5B616B"/>
                </a:solidFill>
              </a:rPr>
              <a:t>后来库存变化：仍返回首次操作结果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A056AD-6B2D-4AC4-8A33-0464635EF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76700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40C79D-A491-4FDF-A577-D125B4262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9577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FC7F47-D1FE-4A00-808A-7CE2B4A54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29577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并发冲突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EAA409-D9B0-4597-B5D4-B8FB03A32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295775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16B"/>
                </a:solidFill>
              </a:defRPr>
            </a:pPr>
            <a:r>
              <a:rPr sz="1500" b="0">
                <a:solidFill>
                  <a:srgbClr val="5B616B"/>
                </a:solidFill>
              </a:rPr>
              <a:t>相同键不同载荷：一成一拒，拒绝方回滚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0495B4-5CFC-4F05-B9BD-A313EBC4A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57750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3636D3-C302-4CA2-9D9E-3FC22BD04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7682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0EA52E-425F-40EB-A944-23E589E04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07682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契约 / 环境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CA5431-CBB8-4019-8C39-687AA5FAE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076825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16B"/>
                </a:solidFill>
              </a:defRPr>
            </a:pPr>
            <a:r>
              <a:rPr sz="1500" b="0">
                <a:solidFill>
                  <a:srgbClr val="5B616B"/>
                </a:solidFill>
              </a:rPr>
              <a:t>校验 HTTP 错误码，并在目标数据库复核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C28A77-A3BC-4E2B-B5D5-29D0706DB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638800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25028126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E95D05-9987-48FF-A737-2368CDC5F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B616B"/>
                </a:solidFill>
              </a:defRPr>
            </a:pPr>
            <a:r>
              <a:rPr sz="975" b="1">
                <a:solidFill>
                  <a:srgbClr val="5B616B"/>
                </a:solidFill>
              </a:rPr>
              <a:t>理论讲解 · T04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946F26-F55C-4367-9F7B-142E63512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F49026-A750-46B6-9F20-B8468C369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198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B616B"/>
                </a:solidFill>
              </a:defRPr>
            </a:pPr>
            <a:r>
              <a:rPr sz="900" b="0">
                <a:solidFill>
                  <a:srgbClr val="5B616B"/>
                </a:solidFill>
              </a:rPr>
              <a:t>30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386817-E76D-40B4-B54F-C4C62AA18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业务重构：先固定行为，再调整职责和入口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066C9F-6053-4643-B9A1-AB81F56E2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952625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3D8DFF"/>
                </a:solidFill>
              </a:defRPr>
            </a:pPr>
            <a:r>
              <a:rPr sz="1875" b="1">
                <a:solidFill>
                  <a:srgbClr val="3D8DFF"/>
                </a:solidFill>
              </a:rPr>
              <a:t>业务问题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173CC6-0B1B-4227-A19E-81C12AF50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52625"/>
            <a:ext cx="752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B616B"/>
                </a:solidFill>
              </a:defRPr>
            </a:pPr>
            <a:r>
              <a:rPr sz="1575" b="0">
                <a:solidFill>
                  <a:srgbClr val="5B616B"/>
                </a:solidFill>
              </a:rPr>
              <a:t>库存能力扩展后出现多个修改入口；需要在行为不变的前提下统一边界，避免规则漏改和持续漂移。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1681C8-0555-4668-8140-0D57EFA66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38425"/>
            <a:ext cx="10239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7F50C2-DA6C-4EBB-81DE-F2A0C59A3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05125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为什么易错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4F3D80-0F65-46ED-BE26-D23895C58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905125"/>
            <a:ext cx="752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B616B"/>
                </a:solidFill>
              </a:defRPr>
            </a:pPr>
            <a:r>
              <a:rPr sz="1575" b="0">
                <a:solidFill>
                  <a:srgbClr val="5B616B"/>
                </a:solidFill>
              </a:rPr>
              <a:t>AI 容易把重构做成大规模搬家、制造透传层，或在整理结构时悄悄改变业务行为。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D6FE92-3891-416F-A425-19B98907A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590925"/>
            <a:ext cx="10239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7C9571-CCDB-4392-8A9B-A28CD60F9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857625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推荐方法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FBECE8-F5FB-4C42-86DC-0664F15DD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857625"/>
            <a:ext cx="752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B616B"/>
                </a:solidFill>
              </a:defRPr>
            </a:pPr>
            <a:r>
              <a:rPr sz="1575" b="0">
                <a:solidFill>
                  <a:srgbClr val="5B616B"/>
                </a:solidFill>
              </a:rPr>
              <a:t>固定 API、错误码、状态和测试结果，每次只移动一个职责，并保留可回滚节点。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872733-EDE5-49E2-BBE9-AFF31B1C2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43425"/>
            <a:ext cx="10239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643C74-EF78-4376-A6A3-5E6E0469E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810125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质量结果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B2DA0A-FC16-438A-8A4D-7D824915B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810125"/>
            <a:ext cx="752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B616B"/>
                </a:solidFill>
              </a:defRPr>
            </a:pPr>
            <a:r>
              <a:rPr sz="1575" b="0">
                <a:solidFill>
                  <a:srgbClr val="5B616B"/>
                </a:solidFill>
              </a:rPr>
              <a:t>外部行为不变，InventoryOperations 成为单一入口，职责更内聚且测试保持通过。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C74D18-43A7-4234-BB74-8A3FE49BE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95925"/>
            <a:ext cx="10239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64328520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89667C-9DF9-454B-B618-12BC57578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B616B"/>
                </a:solidFill>
              </a:defRPr>
            </a:pPr>
            <a:r>
              <a:rPr sz="975" b="1">
                <a:solidFill>
                  <a:srgbClr val="5B616B"/>
                </a:solidFill>
              </a:rPr>
              <a:t>T04 · 业务重构 · 任务路线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89C78D-C8BF-4BCE-9860-BABB98BB8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028CA9-F6AA-4D78-8D2D-D1E665E80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198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B616B"/>
                </a:solidFill>
              </a:defRPr>
            </a:pPr>
            <a:r>
              <a:rPr sz="900" b="0">
                <a:solidFill>
                  <a:srgbClr val="5B616B"/>
                </a:solidFill>
              </a:rPr>
              <a:t>31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9A195A-3909-426D-8A27-BB0AF9E55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固定行为后，完成一个可回滚的小步重构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EF9578-2594-4026-90A3-8474F0380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AFB4EE-6537-401D-BFAE-8DA648351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95262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任务目标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DDE007-93BE-401B-8B5D-A12F8AC56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52625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16B"/>
                </a:solidFill>
              </a:defRPr>
            </a:pPr>
            <a:r>
              <a:rPr sz="1500" b="0">
                <a:solidFill>
                  <a:srgbClr val="5B616B"/>
                </a:solidFill>
              </a:rPr>
              <a:t>收拢分散的库存写入，恢复单一 InventoryOperations 入口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6914B3-C3E0-4ED5-BF4E-088628A80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14600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31AA44-67D5-49A1-893A-6D2CDACFE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3367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8CB430-4E65-4209-9180-96731D23C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3367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解决方式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0AE7A1-C157-4029-980F-A392DDECE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33675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16B"/>
                </a:solidFill>
              </a:defRPr>
            </a:pPr>
            <a:r>
              <a:rPr sz="1500" b="0">
                <a:solidFill>
                  <a:srgbClr val="5B616B"/>
                </a:solidFill>
              </a:rPr>
              <a:t>行为快照卡 → 依赖/重复证据 → AI重构计划 → 单职责小步 → 前后Diff → 回归与结构评审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208E09-A4C7-4DFA-89C9-6FABE7494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95650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33F492-8543-41F5-A4C5-7316A2460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1472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B6EFFB-DA9D-48AE-AC6C-D3A635436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51472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工具与入口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D8AAF6-A3A5-4BF2-B28A-A2FEDBC48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514725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16B"/>
                </a:solidFill>
              </a:defRPr>
            </a:pPr>
            <a:r>
              <a:rPr sz="1500" b="0">
                <a:solidFill>
                  <a:srgbClr val="5B616B"/>
                </a:solidFill>
              </a:rPr>
              <a:t>s2-t04-start；T04任务卡、架构/Standards、依赖搜索、测试、/implement、/code-review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A056AD-6B2D-4AC4-8A33-0464635EF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76700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40C79D-A491-4FDF-A577-D125B4262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9577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FC7F47-D1FE-4A00-808A-7CE2B4A54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29577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约束限制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EAA409-D9B0-4597-B5D4-B8FB03A32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295775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16B"/>
                </a:solidFill>
              </a:defRPr>
            </a:pPr>
            <a:r>
              <a:rPr sz="1500" b="0">
                <a:solidFill>
                  <a:srgbClr val="5B616B"/>
                </a:solidFill>
              </a:rPr>
              <a:t>先截图/导出依赖与测试结果；API、错误码、状态不变，不造透传层、巨型Service或新框架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0495B4-5CFC-4F05-B9BD-A313EBC4A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57750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3636D3-C302-4CA2-9D9E-3FC22BD04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7682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0EA52E-425F-40EB-A944-23E589E04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07682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完成证据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CA5431-CBB8-4019-8C39-687AA5FAE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076825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16B"/>
                </a:solidFill>
              </a:defRPr>
            </a:pPr>
            <a:r>
              <a:rPr sz="1500" b="0">
                <a:solidFill>
                  <a:srgbClr val="5B616B"/>
                </a:solidFill>
              </a:rPr>
              <a:t>重构前后测试 + 依赖/结构对照 + 小步提交 + Spec/Standards裁决 + 回滚点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C28A77-A3BC-4E2B-B5D5-29D0706DB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638800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25028126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89667C-9DF9-454B-B618-12BC57578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B616B"/>
                </a:solidFill>
              </a:defRPr>
            </a:pPr>
            <a:r>
              <a:rPr sz="975" b="1">
                <a:solidFill>
                  <a:srgbClr val="5B616B"/>
                </a:solidFill>
              </a:rPr>
              <a:t>T04 · 具体操作 · AI工作流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89C78D-C8BF-4BCE-9860-BABB98BB8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028CA9-F6AA-4D78-8D2D-D1E665E80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198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B616B"/>
                </a:solidFill>
              </a:defRPr>
            </a:pPr>
            <a:r>
              <a:rPr sz="900" b="0">
                <a:solidFill>
                  <a:srgbClr val="5B616B"/>
                </a:solidFill>
              </a:rPr>
              <a:t>32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9A195A-3909-426D-8A27-BB0AF9E55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T04：先冻结行为，再让 AI 小步移动职责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EF9578-2594-4026-90A3-8474F0380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AFB4EE-6537-401D-BFAE-8DA648351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95262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制作行为快照卡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DDE007-93BE-401B-8B5D-A12F8AC56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52625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16B"/>
                </a:solidFill>
              </a:defRPr>
            </a:pPr>
            <a:r>
              <a:rPr sz="1500" b="0">
                <a:solidFill>
                  <a:srgbClr val="5B616B"/>
                </a:solidFill>
              </a:rPr>
              <a:t>记录API、错误码、状态、测试结果；保存重构前依赖图或搜索结果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6914B3-C3E0-4ED5-BF4E-088628A80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14600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31AA44-67D5-49A1-893A-6D2CDACFE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3367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8CB430-4E65-4209-9180-96731D23C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3367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识别结构问题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0AE7A1-C157-4029-980F-A392DDECE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33675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16B"/>
                </a:solidFill>
              </a:defRPr>
            </a:pPr>
            <a:r>
              <a:rPr sz="1500" b="0">
                <a:solidFill>
                  <a:srgbClr val="5B616B"/>
                </a:solidFill>
              </a:rPr>
              <a:t>AI读取AGENTS、架构和Standards，定位重复规则、旁路入口与职责缝隙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208E09-A4C7-4DFA-89C9-6FABE7494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95650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33F492-8543-41F5-A4C5-7316A2460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1472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B6EFFB-DA9D-48AE-AC6C-D3A635436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51472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批准重构计划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D8AAF6-A3A5-4BF2-B28A-A2FEDBC48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514725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16B"/>
                </a:solidFill>
              </a:defRPr>
            </a:pPr>
            <a:r>
              <a:rPr sz="1500" b="0">
                <a:solidFill>
                  <a:srgbClr val="5B616B"/>
                </a:solidFill>
              </a:rPr>
              <a:t>明确每一步移动什么、哪些行为不变、验证方式和可回滚提交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A056AD-6B2D-4AC4-8A33-0464635EF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76700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40C79D-A491-4FDF-A577-D125B4262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9577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FC7F47-D1FE-4A00-808A-7CE2B4A54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29577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逐步实施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EAA409-D9B0-4597-B5D4-B8FB03A32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295775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16B"/>
                </a:solidFill>
              </a:defRPr>
            </a:pPr>
            <a:r>
              <a:rPr sz="1500" b="0">
                <a:solidFill>
                  <a:srgbClr val="5B616B"/>
                </a:solidFill>
              </a:rPr>
              <a:t>/implement 一次只改一个职责；每步查看Diff并运行相关测试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0495B4-5CFC-4F05-B9BD-A313EBC4A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57750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3636D3-C302-4CA2-9D9E-3FC22BD04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7682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0EA52E-425F-40EB-A944-23E589E04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07682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前后比对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CA5431-CBB8-4019-8C39-687AA5FAE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076825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16B"/>
                </a:solidFill>
              </a:defRPr>
            </a:pPr>
            <a:r>
              <a:rPr sz="1500" b="0">
                <a:solidFill>
                  <a:srgbClr val="5B616B"/>
                </a:solidFill>
              </a:rPr>
              <a:t>完整回归 + 依赖检查；/code-review 审核 Spec 不变与 Standards 改进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C28A77-A3BC-4E2B-B5D5-29D0706DB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638800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25028126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E9ABE0-930B-4819-81FA-0ADD7B2AB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B616B"/>
                </a:solidFill>
              </a:defRPr>
            </a:pPr>
            <a:r>
              <a:rPr sz="975" b="1">
                <a:solidFill>
                  <a:srgbClr val="5B616B"/>
                </a:solidFill>
              </a:rPr>
              <a:t>T04 · 具体操作 · 工具与入口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7EE738-BC1F-41F6-96A1-BAC16ED06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0C4B92-D61A-45F9-B3FB-159770601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198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B616B"/>
                </a:solidFill>
              </a:defRPr>
            </a:pPr>
            <a:r>
              <a:rPr sz="900" b="0">
                <a:solidFill>
                  <a:srgbClr val="5B616B"/>
                </a:solidFill>
              </a:rPr>
              <a:t>33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02E891-1A62-434E-896A-6A0F9D561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T04：重构入口既有行为，也有结构证据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99037F-4477-487C-AD48-3039F180D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52578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39B4CA-94E6-4116-8924-02604A09D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05000"/>
            <a:ext cx="54864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E2D6BA-CC69-4913-A634-03AA971E3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项目与文档入口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013190-B0B5-45D5-BBE9-987BEB898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098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6FB637-1B86-406C-A5B9-3B92EE9DC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67000"/>
            <a:ext cx="4210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s2-t04-start / group-XX/t04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11221E-A2AC-45A8-869A-98BDAB781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004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4F0342-C355-4D58-BD2E-768AD8C2C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57550"/>
            <a:ext cx="4210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T04任务卡、architecture、STANDARDS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2B7617-FB1B-4FBB-9D51-95EA67A6D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909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6DF56E-A633-43D6-9550-5A33AB54A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48100"/>
            <a:ext cx="4210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调用方搜索、依赖图、重构前Diff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62E5F3-3AA1-4320-BF37-913296954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815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19EFA1-110F-49C6-B007-0594E11C4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38650"/>
            <a:ext cx="4210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11条行为测试和Docker验证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A2C1E7-1178-448B-95E1-43252F3C1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95500"/>
            <a:ext cx="466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3D8DFF"/>
                </a:solidFill>
              </a:defRPr>
            </a:pPr>
            <a:r>
              <a:rPr sz="1875" b="1">
                <a:solidFill>
                  <a:srgbClr val="3D8DFF"/>
                </a:solidFill>
              </a:rPr>
              <a:t>AI、验证与证据入口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62DF67-C8C3-429B-ABE7-30AF3A1D1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098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9B1E03-EC94-434C-AD4E-67457F1BF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667000"/>
            <a:ext cx="440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/grill-with-docs（结构证据）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2C2385-32A7-49E9-A555-CD83E856E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004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1CD614-B7C4-4CB5-903D-12C7391F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257550"/>
            <a:ext cx="440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/to-spec（重构非目标）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F5F157-ED0A-49ED-8AEE-B6F3646F9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909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B5098F-3A7D-4433-AC8F-77A9B323A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48100"/>
            <a:ext cx="440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/implement → /code-review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2FD421-2C9B-4ADC-9F4E-152EBDFEF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5815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7E0BF9-248D-4D1E-8406-9F9887B61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438650"/>
            <a:ext cx="440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截图/依赖图用于对比；测试证明行为未变</a:t>
            </a:r>
          </a:p>
        </p:txBody>
      </p:sp>
    </p:spTree>
    <p:extLst>
      <p:ext uri="{BB962C8B-B14F-4D97-AF65-F5344CB8AC3E}">
        <p14:creationId xmlns:p14="http://schemas.microsoft.com/office/powerpoint/2010/main" val="547061465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E95D05-9987-48FF-A737-2368CDC5F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B616B"/>
                </a:solidFill>
              </a:defRPr>
            </a:pPr>
            <a:r>
              <a:rPr sz="975" b="1">
                <a:solidFill>
                  <a:srgbClr val="5B616B"/>
                </a:solidFill>
              </a:rPr>
              <a:t>T04 · 具体操作 · 约束与限制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946F26-F55C-4367-9F7B-142E63512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F49026-A750-46B6-9F20-B8468C369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198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B616B"/>
                </a:solidFill>
              </a:defRPr>
            </a:pPr>
            <a:r>
              <a:rPr sz="900" b="0">
                <a:solidFill>
                  <a:srgbClr val="5B616B"/>
                </a:solidFill>
              </a:rPr>
              <a:t>34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386817-E76D-40B4-B54F-C4C62AA18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T04：边界、停止条件和验收门槛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066C9F-6053-4643-B9A1-AB81F56E2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952625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3D8DFF"/>
                </a:solidFill>
              </a:defRPr>
            </a:pPr>
            <a:r>
              <a:rPr sz="1875" b="1">
                <a:solidFill>
                  <a:srgbClr val="3D8DFF"/>
                </a:solidFill>
              </a:rPr>
              <a:t>允许修改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173CC6-0B1B-4227-A19E-81C12AF50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52625"/>
            <a:ext cx="752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B616B"/>
                </a:solidFill>
              </a:defRPr>
            </a:pPr>
            <a:r>
              <a:rPr sz="1575" b="0">
                <a:solidFill>
                  <a:srgbClr val="5B616B"/>
                </a:solidFill>
              </a:rPr>
              <a:t>business-wms库存领域与Web注入；按小步提交并保留回滚点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1681C8-0555-4668-8140-0D57EFA66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38425"/>
            <a:ext cx="10239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7F50C2-DA6C-4EBB-81DE-F2A0C59A3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05125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禁止事项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4F3D80-0F65-46ED-BE26-D23895C58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905125"/>
            <a:ext cx="752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B616B"/>
                </a:solidFill>
              </a:defRPr>
            </a:pPr>
            <a:r>
              <a:rPr sz="1575" b="0">
                <a:solidFill>
                  <a:srgbClr val="5B616B"/>
                </a:solidFill>
              </a:rPr>
              <a:t>不改API/错误码/状态，不引新框架，不机械拆Helper或造透传层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D6FE92-3891-416F-A425-19B98907A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590925"/>
            <a:ext cx="10239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7C9571-CCDB-4392-8A9B-A28CD60F9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857625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停止条件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FBECE8-F5FB-4C42-86DC-0664F15DD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857625"/>
            <a:ext cx="752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B616B"/>
                </a:solidFill>
              </a:defRPr>
            </a:pPr>
            <a:r>
              <a:rPr sz="1575" b="0">
                <a:solidFill>
                  <a:srgbClr val="5B616B"/>
                </a:solidFill>
              </a:rPr>
              <a:t>行为快照不全、重复规则无证据或一次改动无法独立验证时停止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872733-EDE5-49E2-BBE9-AFF31B1C2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43425"/>
            <a:ext cx="10239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643C74-EF78-4376-A6A3-5E6E0469E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810125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验收门槛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B2DA0A-FC16-438A-8A4D-7D824915B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810125"/>
            <a:ext cx="752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B616B"/>
                </a:solidFill>
              </a:defRPr>
            </a:pPr>
            <a:r>
              <a:rPr sz="1575" b="0">
                <a:solidFill>
                  <a:srgbClr val="5B616B"/>
                </a:solidFill>
              </a:rPr>
              <a:t>同一套测试前后通过，调用方只走InventoryOperations，职责归属可解释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C74D18-43A7-4234-BB74-8A3FE49BE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95925"/>
            <a:ext cx="10239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64328520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E95D05-9987-48FF-A737-2368CDC5F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B616B"/>
                </a:solidFill>
              </a:defRPr>
            </a:pPr>
            <a:r>
              <a:rPr sz="975" b="1">
                <a:solidFill>
                  <a:srgbClr val="5B616B"/>
                </a:solidFill>
              </a:rPr>
              <a:t>期望结果 · T04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946F26-F55C-4367-9F7B-142E63512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F49026-A750-46B6-9F20-B8468C369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198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B616B"/>
                </a:solidFill>
              </a:defRPr>
            </a:pPr>
            <a:r>
              <a:rPr sz="900" b="0">
                <a:solidFill>
                  <a:srgbClr val="5B616B"/>
                </a:solidFill>
              </a:rPr>
              <a:t>35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386817-E76D-40B4-B54F-C4C62AA18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行为保持不变，库存入口和职责更加清晰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066C9F-6053-4643-B9A1-AB81F56E2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952625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3D8DFF"/>
                </a:solidFill>
              </a:defRPr>
            </a:pPr>
            <a:r>
              <a:rPr sz="1875" b="1">
                <a:solidFill>
                  <a:srgbClr val="3D8DFF"/>
                </a:solidFill>
              </a:rPr>
              <a:t>业务行为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173CC6-0B1B-4227-A19E-81C12AF50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52625"/>
            <a:ext cx="752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B616B"/>
                </a:solidFill>
              </a:defRPr>
            </a:pPr>
            <a:r>
              <a:rPr sz="1575" b="0">
                <a:solidFill>
                  <a:srgbClr val="5B616B"/>
                </a:solidFill>
              </a:rPr>
              <a:t>原有 API、状态、错误码和 11 个业务测试保持不变。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1681C8-0555-4668-8140-0D57EFA66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38425"/>
            <a:ext cx="10239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7F50C2-DA6C-4EBB-81DE-F2A0C59A3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05125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异常边界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4F3D80-0F65-46ED-BE26-D23895C58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905125"/>
            <a:ext cx="752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B616B"/>
                </a:solidFill>
              </a:defRPr>
            </a:pPr>
            <a:r>
              <a:rPr sz="1575" b="0">
                <a:solidFill>
                  <a:srgbClr val="5B616B"/>
                </a:solidFill>
              </a:rPr>
              <a:t>失败路径与事务行为不变；没有因为重构删除断言或放宽验收。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D6FE92-3891-416F-A425-19B98907A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590925"/>
            <a:ext cx="10239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7C9571-CCDB-4392-8A9B-A28CD60F9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857625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工程质量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FBECE8-F5FB-4C42-86DC-0664F15DD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857625"/>
            <a:ext cx="752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B616B"/>
                </a:solidFill>
              </a:defRPr>
            </a:pPr>
            <a:r>
              <a:rPr sz="1575" b="0">
                <a:solidFill>
                  <a:srgbClr val="5B616B"/>
                </a:solidFill>
              </a:rPr>
              <a:t>Controller 只依赖 InventoryOperations，职责内聚且没有 Helper 搬家。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872733-EDE5-49E2-BBE9-AFF31B1C2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43425"/>
            <a:ext cx="10239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643C74-EF78-4376-A6A3-5E6E0469E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810125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验收证据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B2DA0A-FC16-438A-8A4D-7D824915B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810125"/>
            <a:ext cx="752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B616B"/>
                </a:solidFill>
              </a:defRPr>
            </a:pPr>
            <a:r>
              <a:rPr sz="1575" b="0">
                <a:solidFill>
                  <a:srgbClr val="5B616B"/>
                </a:solidFill>
              </a:rPr>
              <a:t>重构前后证据可比较；Spec 无变化，Standards 单独通过评审。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C74D18-43A7-4234-BB74-8A3FE49BE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95925"/>
            <a:ext cx="10239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64328520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08855D-8AED-4B3A-9C40-11D2F91A1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M4 · 复用交付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5E51CE-BAA2-4841-84C3-75E74C8B2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1028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把一次正确，升级为团队可重复的能力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4A350B-2493-40DE-9D1A-686D4608E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8858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C9CDD3"/>
                </a:solidFill>
              </a:defRPr>
            </a:pPr>
            <a:r>
              <a:rPr sz="1650" b="0">
                <a:solidFill>
                  <a:srgbClr val="C9CDD3"/>
                </a:solidFill>
              </a:rPr>
              <a:t>T05 提炼平台机制与 Skill；T06 用综合任务串起完整质量链。</a:t>
            </a:r>
          </a:p>
        </p:txBody>
      </p:sp>
    </p:spTree>
    <p:extLst>
      <p:ext uri="{BB962C8B-B14F-4D97-AF65-F5344CB8AC3E}">
        <p14:creationId xmlns:p14="http://schemas.microsoft.com/office/powerpoint/2010/main" val="1134740470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E95D05-9987-48FF-A737-2368CDC5F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B616B"/>
                </a:solidFill>
              </a:defRPr>
            </a:pPr>
            <a:r>
              <a:rPr sz="975" b="1">
                <a:solidFill>
                  <a:srgbClr val="5B616B"/>
                </a:solidFill>
              </a:rPr>
              <a:t>理论讲解 · T05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946F26-F55C-4367-9F7B-142E63512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F49026-A750-46B6-9F20-B8468C369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198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B616B"/>
                </a:solidFill>
              </a:defRPr>
            </a:pPr>
            <a:r>
              <a:rPr sz="900" b="0">
                <a:solidFill>
                  <a:srgbClr val="5B616B"/>
                </a:solidFill>
              </a:rPr>
              <a:t>37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386817-E76D-40B4-B54F-C4C62AA18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组件与 Skill：复用稳定机制，不上收业务语义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066C9F-6053-4643-B9A1-AB81F56E2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952625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3D8DFF"/>
                </a:solidFill>
              </a:defRPr>
            </a:pPr>
            <a:r>
              <a:rPr sz="1875" b="1">
                <a:solidFill>
                  <a:srgbClr val="3D8DFF"/>
                </a:solidFill>
              </a:rPr>
              <a:t>业务问题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173CC6-0B1B-4227-A19E-81C12AF50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52625"/>
            <a:ext cx="752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B616B"/>
                </a:solidFill>
              </a:defRPr>
            </a:pPr>
            <a:r>
              <a:rPr sz="1575" b="0">
                <a:solidFill>
                  <a:srgbClr val="5B616B"/>
                </a:solidFill>
              </a:rPr>
              <a:t>多事业部都要复用审计、幂等和 AI 流程；需要上收稳定机制，同时保留各自业务模型与事务决策。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1681C8-0555-4668-8140-0D57EFA66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38425"/>
            <a:ext cx="10239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7F50C2-DA6C-4EBB-81DE-F2A0C59A3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05125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为什么易错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4F3D80-0F65-46ED-BE26-D23895C58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905125"/>
            <a:ext cx="752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B616B"/>
                </a:solidFill>
              </a:defRPr>
            </a:pPr>
            <a:r>
              <a:rPr sz="1575" b="0">
                <a:solidFill>
                  <a:srgbClr val="5B616B"/>
                </a:solidFill>
              </a:rPr>
              <a:t>AI 容易为了“复用”把 SKU、库位、单据状态等业务语义塞入平台组件。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D6FE92-3891-416F-A425-19B98907A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590925"/>
            <a:ext cx="10239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7C9571-CCDB-4392-8A9B-A28CD60F9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857625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推荐方法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FBECE8-F5FB-4C42-86DC-0664F15DD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857625"/>
            <a:ext cx="752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B616B"/>
                </a:solidFill>
              </a:defRPr>
            </a:pPr>
            <a:r>
              <a:rPr sz="1575" b="0">
                <a:solidFill>
                  <a:srgbClr val="5B616B"/>
                </a:solidFill>
              </a:rPr>
              <a:t>平台只提供稳定机制与扩展点；事业部保留业务判断；Skill 固化步骤而非题目答案。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872733-EDE5-49E2-BBE9-AFF31B1C2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43425"/>
            <a:ext cx="10239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643C74-EF78-4376-A6A3-5E6E0469E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810125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质量结果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B2DA0A-FC16-438A-8A4D-7D824915B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810125"/>
            <a:ext cx="752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B616B"/>
                </a:solidFill>
              </a:defRPr>
            </a:pPr>
            <a:r>
              <a:rPr sz="1575" b="0">
                <a:solidFill>
                  <a:srgbClr val="5B616B"/>
                </a:solidFill>
              </a:rPr>
              <a:t>平台契约稳定、业务可独立演进，Skill 有输入、产物、停止条件和人工决策点。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C74D18-43A7-4234-BB74-8A3FE49BE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95925"/>
            <a:ext cx="10239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64328520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89667C-9DF9-454B-B618-12BC57578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B616B"/>
                </a:solidFill>
              </a:defRPr>
            </a:pPr>
            <a:r>
              <a:rPr sz="975" b="1">
                <a:solidFill>
                  <a:srgbClr val="5B616B"/>
                </a:solidFill>
              </a:rPr>
              <a:t>T05 · 组件 / Skill · 任务路线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89C78D-C8BF-4BCE-9860-BABB98BB8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028CA9-F6AA-4D78-8D2D-D1E665E80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198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B616B"/>
                </a:solidFill>
              </a:defRPr>
            </a:pPr>
            <a:r>
              <a:rPr sz="900" b="0">
                <a:solidFill>
                  <a:srgbClr val="5B616B"/>
                </a:solidFill>
              </a:rPr>
              <a:t>38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9A195A-3909-426D-8A27-BB0AF9E55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提炼可复用平台机制和交付 Skill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EF9578-2594-4026-90A3-8474F0380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AFB4EE-6537-401D-BFAE-8DA648351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95262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任务目标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DDE007-93BE-401B-8B5D-A12F8AC56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52625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16B"/>
                </a:solidFill>
              </a:defRPr>
            </a:pPr>
            <a:r>
              <a:rPr sz="1500" b="0">
                <a:solidFill>
                  <a:srgbClr val="5B616B"/>
                </a:solidFill>
              </a:rPr>
              <a:t>复用幂等、审计与操作人机制，同时保留事业部业务语义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6914B3-C3E0-4ED5-BF4E-088628A80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14600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31AA44-67D5-49A1-893A-6D2CDACFE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3367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8CB430-4E65-4209-9180-96731D23C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3367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解决方式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0AE7A1-C157-4029-980F-A392DDECE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33675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16B"/>
                </a:solidFill>
              </a:defRPr>
            </a:pPr>
            <a:r>
              <a:rPr sz="1500" b="0">
                <a:solidFill>
                  <a:srgbClr val="5B616B"/>
                </a:solidFill>
              </a:rPr>
              <a:t>复用候选卡 → 调用方/变化原因证据 → 边界决策表 → 平台契约 → 两处接入 → Skill实跑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208E09-A4C7-4DFA-89C9-6FABE7494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95650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33F492-8543-41F5-A4C5-7316A2460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1472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B6EFFB-DA9D-48AE-AC6C-D3A635436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51472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工具与入口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D8AAF6-A3A5-4BF2-B28A-A2FEDBC48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514725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16B"/>
                </a:solidFill>
              </a:defRPr>
            </a:pPr>
            <a:r>
              <a:rPr sz="1500" b="0">
                <a:solidFill>
                  <a:srgbClr val="5B616B"/>
                </a:solidFill>
              </a:rPr>
              <a:t>s2-t05-start；T05任务卡、平台契约/测试、Skills目录、调用方搜索、五步产物、证据目录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A056AD-6B2D-4AC4-8A33-0464635EF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76700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40C79D-A491-4FDF-A577-D125B4262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9577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FC7F47-D1FE-4A00-808A-7CE2B4A54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29577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约束限制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EAA409-D9B0-4597-B5D4-B8FB03A32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295775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16B"/>
                </a:solidFill>
              </a:defRPr>
            </a:pPr>
            <a:r>
              <a:rPr sz="1500" b="0">
                <a:solidFill>
                  <a:srgbClr val="5B616B"/>
                </a:solidFill>
              </a:rPr>
              <a:t>平台只收稳定机制；禁止SKU/库位/单据语义上收，禁止以减行数或新增接口证明复用成功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0495B4-5CFC-4F05-B9BD-A313EBC4A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57750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3636D3-C302-4CA2-9D9E-3FC22BD04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7682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0EA52E-425F-40EB-A944-23E589E04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07682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完成证据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CA5431-CBB8-4019-8C39-687AA5FAE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076825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16B"/>
                </a:solidFill>
              </a:defRPr>
            </a:pPr>
            <a:r>
              <a:rPr sz="1500" b="0">
                <a:solidFill>
                  <a:srgbClr val="5B616B"/>
                </a:solidFill>
              </a:rPr>
              <a:t>复用决策 + 契约测试 + 两类调用方对照 + Skill运行记录 + 业务回归 + 人工裁决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C28A77-A3BC-4E2B-B5D5-29D0706DB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638800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25028126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89667C-9DF9-454B-B618-12BC57578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B616B"/>
                </a:solidFill>
              </a:defRPr>
            </a:pPr>
            <a:r>
              <a:rPr sz="975" b="1">
                <a:solidFill>
                  <a:srgbClr val="5B616B"/>
                </a:solidFill>
              </a:rPr>
              <a:t>T05 · 具体操作 · AI工作流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89C78D-C8BF-4BCE-9860-BABB98BB8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028CA9-F6AA-4D78-8D2D-D1E665E80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198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B616B"/>
                </a:solidFill>
              </a:defRPr>
            </a:pPr>
            <a:r>
              <a:rPr sz="900" b="0">
                <a:solidFill>
                  <a:srgbClr val="5B616B"/>
                </a:solidFill>
              </a:rPr>
              <a:t>39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9A195A-3909-426D-8A27-BB0AF9E55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T05：用真实调用方决定组件和 Skill 边界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EF9578-2594-4026-90A3-8474F0380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AFB4EE-6537-401D-BFAE-8DA648351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95262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制作复用候选卡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DDE007-93BE-401B-8B5D-A12F8AC56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52625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16B"/>
                </a:solidFill>
              </a:defRPr>
            </a:pPr>
            <a:r>
              <a:rPr sz="1500" b="0">
                <a:solidFill>
                  <a:srgbClr val="5B616B"/>
                </a:solidFill>
              </a:rPr>
              <a:t>列重复代码、调用方、事务和变化原因；先判断是否真的需要复用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6914B3-C3E0-4ED5-BF4E-088628A80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14600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31AA44-67D5-49A1-893A-6D2CDACFE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3367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8CB430-4E65-4209-9180-96731D23C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3367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收集项目证据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0AE7A1-C157-4029-980F-A392DDECE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33675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16B"/>
                </a:solidFill>
              </a:defRPr>
            </a:pPr>
            <a:r>
              <a:rPr sz="1500" b="0">
                <a:solidFill>
                  <a:srgbClr val="5B616B"/>
                </a:solidFill>
              </a:rPr>
              <a:t>/grill-with-docs 读取平台契约、两处业务实现、测试与所有权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208E09-A4C7-4DFA-89C9-6FABE7494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95650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33F492-8543-41F5-A4C5-7316A2460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1472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B6EFFB-DA9D-48AE-AC6C-D3A635436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51472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冻结边界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D8AAF6-A3A5-4BF2-B28A-A2FEDBC48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514725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16B"/>
                </a:solidFill>
              </a:defRPr>
            </a:pPr>
            <a:r>
              <a:rPr sz="1500" b="0">
                <a:solidFill>
                  <a:srgbClr val="5B616B"/>
                </a:solidFill>
              </a:rPr>
              <a:t>/to-spec 决定复用现有/事业部抽取/上收平台/保留重复及非目标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A056AD-6B2D-4AC4-8A33-0464635EF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76700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40C79D-A491-4FDF-A577-D125B4262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9577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FC7F47-D1FE-4A00-808A-7CE2B4A54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29577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最小接入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EAA409-D9B0-4597-B5D4-B8FB03A32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295775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16B"/>
                </a:solidFill>
              </a:defRPr>
            </a:pPr>
            <a:r>
              <a:rPr sz="1500" b="0">
                <a:solidFill>
                  <a:srgbClr val="5B616B"/>
                </a:solidFill>
              </a:rPr>
              <a:t>/implement 建契约与默认机制，让两个调用方保留不同业务判断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0495B4-5CFC-4F05-B9BD-A313EBC4A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57750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3636D3-C302-4CA2-9D9E-3FC22BD04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7682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0EA52E-425F-40EB-A944-23E589E04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07682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验证复用质量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CA5431-CBB8-4019-8C39-687AA5FAE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076825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16B"/>
                </a:solidFill>
              </a:defRPr>
            </a:pPr>
            <a:r>
              <a:rPr sz="1500" b="0">
                <a:solidFill>
                  <a:srgbClr val="5B616B"/>
                </a:solidFill>
              </a:rPr>
              <a:t>契约测试+业务回归；实际运行Skill，/code-review检查语义泄漏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C28A77-A3BC-4E2B-B5D5-29D0706DB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638800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25028126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E9ABE0-930B-4819-81FA-0ADD7B2AB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B616B"/>
                </a:solidFill>
              </a:defRPr>
            </a:pPr>
            <a:r>
              <a:rPr sz="975" b="1">
                <a:solidFill>
                  <a:srgbClr val="5B616B"/>
                </a:solidFill>
              </a:rPr>
              <a:t>T05 · 具体操作 · 工具与入口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7EE738-BC1F-41F6-96A1-BAC16ED06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0C4B92-D61A-45F9-B3FB-159770601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198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B616B"/>
                </a:solidFill>
              </a:defRPr>
            </a:pPr>
            <a:r>
              <a:rPr sz="900" b="0">
                <a:solidFill>
                  <a:srgbClr val="5B616B"/>
                </a:solidFill>
              </a:rPr>
              <a:t>40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02E891-1A62-434E-896A-6A0F9D561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T05：组件入口、Skill入口和调用方证据缺一不可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99037F-4477-487C-AD48-3039F180D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52578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39B4CA-94E6-4116-8924-02604A09D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05000"/>
            <a:ext cx="54864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E2D6BA-CC69-4913-A634-03AA971E3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项目与文档入口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013190-B0B5-45D5-BBE9-987BEB898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098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6FB637-1B86-406C-A5B9-3B92EE9DC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67000"/>
            <a:ext cx="4210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s2-t05-start / group-XX/t05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11221E-A2AC-45A8-869A-98BDAB781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004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4F0342-C355-4D58-BD2E-768AD8C2C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57550"/>
            <a:ext cx="4210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T05任务卡、platform-contracts与starter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2B7617-FB1B-4FBB-9D51-95EA67A6D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909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6DF56E-A633-43D6-9550-5A33AB54A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48100"/>
            <a:ext cx="4210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库存/出库两类真实调用方和测试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62E5F3-3AA1-4320-BF37-913296954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815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19EFA1-110F-49C6-B007-0594E11C4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38650"/>
            <a:ext cx="4210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.agents/skills、AGENTS、STANDARDS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A2C1E7-1178-448B-95E1-43252F3C1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95500"/>
            <a:ext cx="466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3D8DFF"/>
                </a:solidFill>
              </a:defRPr>
            </a:pPr>
            <a:r>
              <a:rPr sz="1875" b="1">
                <a:solidFill>
                  <a:srgbClr val="3D8DFF"/>
                </a:solidFill>
              </a:rPr>
              <a:t>AI、验证与证据入口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62DF67-C8C3-429B-ABE7-30AF3A1D1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098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9B1E03-EC94-434C-AD4E-67457F1BF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667000"/>
            <a:ext cx="440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/grill-with-docs → /to-spec → /implement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2C2385-32A7-49E9-A555-CD83E856E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004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1CD614-B7C4-4CB5-903D-12C7391F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257550"/>
            <a:ext cx="440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/code-review 与 Skill 实跑记录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F5F157-ED0A-49ED-8AEE-B6F3646F9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909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B5098F-3A7D-4433-AC8F-77A9B323A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48100"/>
            <a:ext cx="440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调用关系图可选；调用方代码与契约测试必交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2FD421-2C9B-4ADC-9F4E-152EBDFEF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5815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7E0BF9-248D-4D1E-8406-9F9887B61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438650"/>
            <a:ext cx="440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evidence/T05：决策表、产物、裁决</a:t>
            </a:r>
          </a:p>
        </p:txBody>
      </p:sp>
    </p:spTree>
    <p:extLst>
      <p:ext uri="{BB962C8B-B14F-4D97-AF65-F5344CB8AC3E}">
        <p14:creationId xmlns:p14="http://schemas.microsoft.com/office/powerpoint/2010/main" val="547061465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E95D05-9987-48FF-A737-2368CDC5F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B616B"/>
                </a:solidFill>
              </a:defRPr>
            </a:pPr>
            <a:r>
              <a:rPr sz="975" b="1">
                <a:solidFill>
                  <a:srgbClr val="5B616B"/>
                </a:solidFill>
              </a:rPr>
              <a:t>T05 · 具体操作 · 约束与限制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946F26-F55C-4367-9F7B-142E63512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F49026-A750-46B6-9F20-B8468C369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198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B616B"/>
                </a:solidFill>
              </a:defRPr>
            </a:pPr>
            <a:r>
              <a:rPr sz="900" b="0">
                <a:solidFill>
                  <a:srgbClr val="5B616B"/>
                </a:solidFill>
              </a:rPr>
              <a:t>41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386817-E76D-40B4-B54F-C4C62AA18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T05：边界、停止条件和验收门槛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066C9F-6053-4643-B9A1-AB81F56E2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952625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3D8DFF"/>
                </a:solidFill>
              </a:defRPr>
            </a:pPr>
            <a:r>
              <a:rPr sz="1875" b="1">
                <a:solidFill>
                  <a:srgbClr val="3D8DFF"/>
                </a:solidFill>
              </a:rPr>
              <a:t>允许修改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173CC6-0B1B-4227-A19E-81C12AF50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52625"/>
            <a:ext cx="752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B616B"/>
                </a:solidFill>
              </a:defRPr>
            </a:pPr>
            <a:r>
              <a:rPr sz="1575" b="0">
                <a:solidFill>
                  <a:srgbClr val="5B616B"/>
                </a:solidFill>
              </a:rPr>
              <a:t>批准的平台契约、默认适配器、组装和两个业务接入点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1681C8-0555-4668-8140-0D57EFA66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38425"/>
            <a:ext cx="10239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7F50C2-DA6C-4EBB-81DE-F2A0C59A3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05125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禁止事项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4F3D80-0F65-46ED-BE26-D23895C58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905125"/>
            <a:ext cx="752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B616B"/>
                </a:solidFill>
              </a:defRPr>
            </a:pPr>
            <a:r>
              <a:rPr sz="1575" b="0">
                <a:solidFill>
                  <a:srgbClr val="5B616B"/>
                </a:solidFill>
              </a:rPr>
              <a:t>平台不出现SKU/库位/单据状态；不造万能流程、AOP或反射框架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D6FE92-3891-416F-A425-19B98907A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590925"/>
            <a:ext cx="10239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7C9571-CCDB-4392-8A9B-A28CD60F9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857625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停止条件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FBECE8-F5FB-4C42-86DC-0664F15DD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857625"/>
            <a:ext cx="752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B616B"/>
                </a:solidFill>
              </a:defRPr>
            </a:pPr>
            <a:r>
              <a:rPr sz="1575" b="0">
                <a:solidFill>
                  <a:srgbClr val="5B616B"/>
                </a:solidFill>
              </a:rPr>
              <a:t>只有一个调用方、变化原因不同或跨团队契约未批准时停止上收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872733-EDE5-49E2-BBE9-AFF31B1C2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43425"/>
            <a:ext cx="10239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643C74-EF78-4376-A6A3-5E6E0469E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810125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验收门槛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B2DA0A-FC16-438A-8A4D-7D824915B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810125"/>
            <a:ext cx="752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B616B"/>
                </a:solidFill>
              </a:defRPr>
            </a:pPr>
            <a:r>
              <a:rPr sz="1575" b="0">
                <a:solidFill>
                  <a:srgbClr val="5B616B"/>
                </a:solidFill>
              </a:rPr>
              <a:t>调用方更简单但语义未泄漏；平台测试与11条业务回归全部通过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C74D18-43A7-4234-BB74-8A3FE49BE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95925"/>
            <a:ext cx="10239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64328520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E95D05-9987-48FF-A737-2368CDC5F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B616B"/>
                </a:solidFill>
              </a:defRPr>
            </a:pPr>
            <a:r>
              <a:rPr sz="975" b="1">
                <a:solidFill>
                  <a:srgbClr val="5B616B"/>
                </a:solidFill>
              </a:rPr>
              <a:t>期望结果 · T05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946F26-F55C-4367-9F7B-142E63512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F49026-A750-46B6-9F20-B8468C369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198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B616B"/>
                </a:solidFill>
              </a:defRPr>
            </a:pPr>
            <a:r>
              <a:rPr sz="900" b="0">
                <a:solidFill>
                  <a:srgbClr val="5B616B"/>
                </a:solidFill>
              </a:rPr>
              <a:t>42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386817-E76D-40B4-B54F-C4C62AA18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团队复用的是稳定机制和流程，不是某个业务答案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066C9F-6053-4643-B9A1-AB81F56E2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952625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3D8DFF"/>
                </a:solidFill>
              </a:defRPr>
            </a:pPr>
            <a:r>
              <a:rPr sz="1875" b="1">
                <a:solidFill>
                  <a:srgbClr val="3D8DFF"/>
                </a:solidFill>
              </a:rPr>
              <a:t>业务行为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173CC6-0B1B-4227-A19E-81C12AF50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52625"/>
            <a:ext cx="752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B616B"/>
                </a:solidFill>
              </a:defRPr>
            </a:pPr>
            <a:r>
              <a:rPr sz="1575" b="0">
                <a:solidFill>
                  <a:srgbClr val="5B616B"/>
                </a:solidFill>
              </a:rPr>
              <a:t>平台提供操作者、时间、审计发布与通用幂等裁决。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1681C8-0555-4668-8140-0D57EFA66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38425"/>
            <a:ext cx="10239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7F50C2-DA6C-4EBB-81DE-F2A0C59A3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05125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异常边界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4F3D80-0F65-46ED-BE26-D23895C58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905125"/>
            <a:ext cx="752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B616B"/>
                </a:solidFill>
              </a:defRPr>
            </a:pPr>
            <a:r>
              <a:rPr sz="1575" b="0">
                <a:solidFill>
                  <a:srgbClr val="5B616B"/>
                </a:solidFill>
              </a:rPr>
              <a:t>业务侧保留记录查询、载荷比较、结果恢复和领域错误语义。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D6FE92-3891-416F-A425-19B98907A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590925"/>
            <a:ext cx="10239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7C9571-CCDB-4392-8A9B-A28CD60F9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857625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工程质量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FBECE8-F5FB-4C42-86DC-0664F15DD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857625"/>
            <a:ext cx="752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B616B"/>
                </a:solidFill>
              </a:defRPr>
            </a:pPr>
            <a:r>
              <a:rPr sz="1575" b="0">
                <a:solidFill>
                  <a:srgbClr val="5B616B"/>
                </a:solidFill>
              </a:rPr>
              <a:t>平台代码不出现 SKU、库位、单据状态规则；业务 API 保持兼容。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872733-EDE5-49E2-BBE9-AFF31B1C2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43425"/>
            <a:ext cx="10239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643C74-EF78-4376-A6A3-5E6E0469E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810125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验收证据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B2DA0A-FC16-438A-8A4D-7D824915B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810125"/>
            <a:ext cx="752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B616B"/>
                </a:solidFill>
              </a:defRPr>
            </a:pPr>
            <a:r>
              <a:rPr sz="1575" b="0">
                <a:solidFill>
                  <a:srgbClr val="5B616B"/>
                </a:solidFill>
              </a:rPr>
              <a:t>11 个业务测试和 3 个平台契约测试通过，并保留 Skill 产物。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C74D18-43A7-4234-BB74-8A3FE49BE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95925"/>
            <a:ext cx="10239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64328520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8E866C-7A8A-4AC5-BCF0-D0F41CF00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B616B"/>
                </a:solidFill>
              </a:defRPr>
            </a:pPr>
            <a:r>
              <a:rPr sz="975" b="1">
                <a:solidFill>
                  <a:srgbClr val="5B616B"/>
                </a:solidFill>
              </a:rPr>
              <a:t>模块四 · 理论讲解 · 双轴评审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45F1F4-7F83-4DA4-824C-8CE22D388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AA250C-6BA7-4651-9B1D-3DDFF0F39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198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B616B"/>
                </a:solidFill>
              </a:defRPr>
            </a:pPr>
            <a:r>
              <a:rPr sz="900" b="0">
                <a:solidFill>
                  <a:srgbClr val="5B616B"/>
                </a:solidFill>
              </a:rPr>
              <a:t>43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FF9C8E-3D3A-414E-B4B0-C311F715C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评审只回答两件事：做对了吗，写好了吗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C6CADF-1010-409C-8931-B824C4099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52578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87817E-7FBD-453A-89F0-606A91B87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05000"/>
            <a:ext cx="54864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B86428-DA82-486D-8101-FD193B623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Spec 符合性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3D53D8-C178-4EF8-8E18-73A8A099A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098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C5FC8F-E412-4A80-AF72-C5DA6A480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67000"/>
            <a:ext cx="4210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批准条目：需求、设计、验收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7C5BF1-0DB1-47BC-A0AC-A04A0166D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004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CF5880-3E53-45E3-A7E1-5318A9BF3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57550"/>
            <a:ext cx="4210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实现位置：公开入口与关键调用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D5A103-E393-4EC0-8305-79F6054E3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909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DCE673-7416-4293-9FEA-3CAC5349B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48100"/>
            <a:ext cx="4210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测试证据：断言与实际结果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904ED3-84C3-4F95-9FEE-0F2552E20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815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1BE57A-A583-4187-8164-3EA8C309A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38650"/>
            <a:ext cx="4210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结论：符合、偏差或缺少证据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CD8676-4C12-4A08-9C94-E3C57E144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95500"/>
            <a:ext cx="466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3D8DFF"/>
                </a:solidFill>
              </a:defRPr>
            </a:pPr>
            <a:r>
              <a:rPr sz="1875" b="1">
                <a:solidFill>
                  <a:srgbClr val="3D8DFF"/>
                </a:solidFill>
              </a:rPr>
              <a:t>Standards 符合性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EF7167-0A77-4450-AF31-F1D0B74A8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098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E4942A-02A4-4C75-BA8D-671C204C6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667000"/>
            <a:ext cx="440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规则 ID：适用级别与固定版本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271A53-8C0C-4A2B-BB25-B57C86A88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004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09F5CE-707D-4813-BEE6-B55915993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257550"/>
            <a:ext cx="440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代码证据：职责、复用、事务、错误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1580A1-88D0-4C40-ADD3-18D38A91D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909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C76882-96E7-4DD4-8BE4-D53F33BA8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48100"/>
            <a:ext cx="440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检查结果：符合、违反、待确认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CDC2A1-8529-4A96-A5AE-81C30E3D6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5815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0E3ECE-041D-4285-9FEC-CCF98BE39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438650"/>
            <a:ext cx="440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人工处理：预警裁决或有效例外</a:t>
            </a:r>
          </a:p>
        </p:txBody>
      </p:sp>
    </p:spTree>
    <p:extLst>
      <p:ext uri="{BB962C8B-B14F-4D97-AF65-F5344CB8AC3E}">
        <p14:creationId xmlns:p14="http://schemas.microsoft.com/office/powerpoint/2010/main" val="258868321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E95D05-9987-48FF-A737-2368CDC5F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B616B"/>
                </a:solidFill>
              </a:defRPr>
            </a:pPr>
            <a:r>
              <a:rPr sz="975" b="1">
                <a:solidFill>
                  <a:srgbClr val="5B616B"/>
                </a:solidFill>
              </a:rPr>
              <a:t>理论讲解 · T06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946F26-F55C-4367-9F7B-142E63512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F49026-A750-46B6-9F20-B8468C369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198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B616B"/>
                </a:solidFill>
              </a:defRPr>
            </a:pPr>
            <a:r>
              <a:rPr sz="900" b="0">
                <a:solidFill>
                  <a:srgbClr val="5B616B"/>
                </a:solidFill>
              </a:rPr>
              <a:t>44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386817-E76D-40B4-B54F-C4C62AA18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综合任务：用盘点串起完整质量链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066C9F-6053-4643-B9A1-AB81F56E2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952625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3D8DFF"/>
                </a:solidFill>
              </a:defRPr>
            </a:pPr>
            <a:r>
              <a:rPr sz="1875" b="1">
                <a:solidFill>
                  <a:srgbClr val="3D8DFF"/>
                </a:solidFill>
              </a:rPr>
              <a:t>业务问题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173CC6-0B1B-4227-A19E-81C12AF50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52625"/>
            <a:ext cx="752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B616B"/>
                </a:solidFill>
              </a:defRPr>
            </a:pPr>
            <a:r>
              <a:rPr sz="1575" b="0">
                <a:solidFill>
                  <a:srgbClr val="5B616B"/>
                </a:solidFill>
              </a:rPr>
              <a:t>仓库盘点发现账实差异且期间库存仍会变化；需要审批后安全调整，并拒绝过期快照与重复记账。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1681C8-0555-4668-8140-0D57EFA66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38425"/>
            <a:ext cx="10239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7F50C2-DA6C-4EBB-81DE-F2A0C59A3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05125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为什么易错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4F3D80-0F65-46ED-BE26-D23895C58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905125"/>
            <a:ext cx="752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B616B"/>
                </a:solidFill>
              </a:defRPr>
            </a:pPr>
            <a:r>
              <a:rPr sz="1575" b="0">
                <a:solidFill>
                  <a:srgbClr val="5B616B"/>
                </a:solidFill>
              </a:rPr>
              <a:t>如果直接编码，AI 会自行解释实盘数和审批时点，难以判断实现是否符合批准需求。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D6FE92-3891-416F-A425-19B98907A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590925"/>
            <a:ext cx="10239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7C9571-CCDB-4392-8A9B-A28CD60F9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857625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推荐方法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FBECE8-F5FB-4C42-86DC-0664F15DD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857625"/>
            <a:ext cx="752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B616B"/>
                </a:solidFill>
              </a:defRPr>
            </a:pPr>
            <a:r>
              <a:rPr sz="1575" b="0">
                <a:solidFill>
                  <a:srgbClr val="5B616B"/>
                </a:solidFill>
              </a:rPr>
              <a:t>先审核语义和所有权，再批准 Spec、设计事务与并发方案，最后形成证据矩阵。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872733-EDE5-49E2-BBE9-AFF31B1C2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43425"/>
            <a:ext cx="10239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643C74-EF78-4376-A6A3-5E6E0469E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810125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质量结果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B2DA0A-FC16-438A-8A4D-7D824915B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810125"/>
            <a:ext cx="752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B616B"/>
                </a:solidFill>
              </a:defRPr>
            </a:pPr>
            <a:r>
              <a:rPr sz="1575" b="0">
                <a:solidFill>
                  <a:srgbClr val="5B616B"/>
                </a:solidFill>
              </a:rPr>
              <a:t>交付结论同时覆盖 Spec 与 Standards，并明确未批准、未覆盖和剩余风险。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C74D18-43A7-4234-BB74-8A3FE49BE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95925"/>
            <a:ext cx="10239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64328520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89667C-9DF9-454B-B618-12BC57578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B616B"/>
                </a:solidFill>
              </a:defRPr>
            </a:pPr>
            <a:r>
              <a:rPr sz="975" b="1">
                <a:solidFill>
                  <a:srgbClr val="5B616B"/>
                </a:solidFill>
              </a:rPr>
              <a:t>T06 · 综合考核 · 任务路线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89C78D-C8BF-4BCE-9860-BABB98BB8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028CA9-F6AA-4D78-8D2D-D1E665E80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198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B616B"/>
                </a:solidFill>
              </a:defRPr>
            </a:pPr>
            <a:r>
              <a:rPr sz="900" b="0">
                <a:solidFill>
                  <a:srgbClr val="5B616B"/>
                </a:solidFill>
              </a:rPr>
              <a:t>45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9A195A-3909-426D-8A27-BB0AF9E55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完成盘点任务的需求、设计、实现与证据链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EF9578-2594-4026-90A3-8474F0380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AFB4EE-6537-401D-BFAE-8DA648351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95262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任务目标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DDE007-93BE-401B-8B5D-A12F8AC56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52625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16B"/>
                </a:solidFill>
              </a:defRPr>
            </a:pPr>
            <a:r>
              <a:rPr sz="1500" b="0">
                <a:solidFill>
                  <a:srgbClr val="5B616B"/>
                </a:solidFill>
              </a:rPr>
              <a:t>完成盘点快照、审批调整、并发保护、幂等和审计闭环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6914B3-C3E0-4ED5-BF4E-088628A80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14600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31AA44-67D5-49A1-893A-6D2CDACFE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3367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8CB430-4E65-4209-9180-96731D23C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3367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解决方式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0AE7A1-C157-4029-980F-A392DDECE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33675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16B"/>
                </a:solidFill>
              </a:defRPr>
            </a:pPr>
            <a:r>
              <a:rPr sz="1500" b="0">
                <a:solidFill>
                  <a:srgbClr val="5B616B"/>
                </a:solidFill>
              </a:rPr>
              <a:t>原始需求卡/UI草图 → /grill → /to-spec → Spec → Tickets → 实现测试 → 证据矩阵与双轴评审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208E09-A4C7-4DFA-89C9-6FABE7494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95650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33F492-8543-41F5-A4C5-7316A2460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1472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B6EFFB-DA9D-48AE-AC6C-D3A635436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51472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工具与入口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D8AAF6-A3A5-4BF2-B28A-A2FEDBC48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514725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16B"/>
                </a:solidFill>
              </a:defRPr>
            </a:pPr>
            <a:r>
              <a:rPr sz="1500" b="0">
                <a:solidFill>
                  <a:srgbClr val="5B616B"/>
                </a:solidFill>
              </a:rPr>
              <a:t>s2-t06-start；T06任务卡、UI/API契约、架构/Standards、五步Skills、Docker、已批准 Spec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A056AD-6B2D-4AC4-8A33-0464635EF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76700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40C79D-A491-4FDF-A577-D125B4262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9577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FC7F47-D1FE-4A00-808A-7CE2B4A54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29577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约束限制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EAA409-D9B0-4597-B5D4-B8FB03A32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295775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16B"/>
                </a:solidFill>
              </a:defRPr>
            </a:pPr>
            <a:r>
              <a:rPr sz="1500" b="0">
                <a:solidFill>
                  <a:srgbClr val="5B616B"/>
                </a:solidFill>
              </a:rPr>
              <a:t>实盘数/审批/并发/UI契约未批准不编码；页面截图仅验证展示，库存正确性必须由测试证明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0495B4-5CFC-4F05-B9BD-A313EBC4A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57750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3636D3-C302-4CA2-9D9E-3FC22BD04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7682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0EA52E-425F-40EB-A944-23E589E04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07682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完成证据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CA5431-CBB8-4019-8C39-687AA5FAE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076825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16B"/>
                </a:solidFill>
              </a:defRPr>
            </a:pPr>
            <a:r>
              <a:rPr sz="1500" b="0">
                <a:solidFill>
                  <a:srgbClr val="5B616B"/>
                </a:solidFill>
              </a:rPr>
              <a:t>Spec 版本 + Tickets + 规则/代码/测试矩阵 + 16业务/3平台回归 + 演示与剩余风险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C28A77-A3BC-4E2B-B5D5-29D0706DB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638800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25028126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89667C-9DF9-454B-B618-12BC57578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B616B"/>
                </a:solidFill>
              </a:defRPr>
            </a:pPr>
            <a:r>
              <a:rPr sz="975" b="1">
                <a:solidFill>
                  <a:srgbClr val="5B616B"/>
                </a:solidFill>
              </a:rPr>
              <a:t>T06 · 具体操作 · AI工作流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89C78D-C8BF-4BCE-9860-BABB98BB8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028CA9-F6AA-4D78-8D2D-D1E665E80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198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B616B"/>
                </a:solidFill>
              </a:defRPr>
            </a:pPr>
            <a:r>
              <a:rPr sz="900" b="0">
                <a:solidFill>
                  <a:srgbClr val="5B616B"/>
                </a:solidFill>
              </a:rPr>
              <a:t>46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9A195A-3909-426D-8A27-BB0AF9E55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T06：用完整五步链路交付盘点闭环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EF9578-2594-4026-90A3-8474F0380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AFB4EE-6537-401D-BFAE-8DA648351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95262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发布原始需求卡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DDE007-93BE-401B-8B5D-A12F8AC56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52625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16B"/>
                </a:solidFill>
              </a:defRPr>
            </a:pPr>
            <a:r>
              <a:rPr sz="1500" b="0">
                <a:solidFill>
                  <a:srgbClr val="5B616B"/>
                </a:solidFill>
              </a:rPr>
              <a:t>只给盘点一句话和场景；可附UI草图，不提前公布训练答案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6914B3-C3E0-4ED5-BF4E-088628A80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14600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31AA44-67D5-49A1-893A-6D2CDACFE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3367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8CB430-4E65-4209-9180-96731D23C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3367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跨角色质询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0AE7A1-C157-4029-980F-A392DDECE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33675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16B"/>
                </a:solidFill>
              </a:defRPr>
            </a:pPr>
            <a:r>
              <a:rPr sz="1500" b="0">
                <a:solidFill>
                  <a:srgbClr val="5B616B"/>
                </a:solidFill>
              </a:rPr>
              <a:t>/grill-with-docs 追问实盘口径、快照、审批、并发、预占、幂等和审计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208E09-A4C7-4DFA-89C9-6FABE7494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95650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33F492-8543-41F5-A4C5-7316A2460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1472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B6EFFB-DA9D-48AE-AC6C-D3A635436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51472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批准 Spec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D8AAF6-A3A5-4BF2-B28A-A2FEDBC48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514725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16B"/>
                </a:solidFill>
              </a:defRPr>
            </a:pPr>
            <a:r>
              <a:rPr sz="1500" b="0">
                <a:solidFill>
                  <a:srgbClr val="5B616B"/>
                </a:solidFill>
              </a:rPr>
              <a:t>/to-spec 完成领域/API/UI/事务设计；四方批准并记录指纹与代码起点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A056AD-6B2D-4AC4-8A33-0464635EF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76700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40C79D-A491-4FDF-A577-D125B4262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9577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FC7F47-D1FE-4A00-808A-7CE2B4A54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29577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拆分与实施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EAA409-D9B0-4597-B5D4-B8FB03A32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295775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16B"/>
                </a:solidFill>
              </a:defRPr>
            </a:pPr>
            <a:r>
              <a:rPr sz="1500" b="0">
                <a:solidFill>
                  <a:srgbClr val="5B616B"/>
                </a:solidFill>
              </a:rPr>
              <a:t>/to-tickets 按行为切分；/implement 先测试后完成盘点和库存调整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0495B4-5CFC-4F05-B9BD-A313EBC4A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57750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3636D3-C302-4CA2-9D9E-3FC22BD04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7682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0EA52E-425F-40EB-A944-23E589E04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07682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交付裁决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CA5431-CBB8-4019-8C39-687AA5FAE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076825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16B"/>
                </a:solidFill>
              </a:defRPr>
            </a:pPr>
            <a:r>
              <a:rPr sz="1500" b="0">
                <a:solidFill>
                  <a:srgbClr val="5B616B"/>
                </a:solidFill>
              </a:rPr>
              <a:t>Docker全量回归；/code-review 对照 Spec / Standards，人工决定放行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C28A77-A3BC-4E2B-B5D5-29D0706DB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638800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25028126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E9ABE0-930B-4819-81FA-0ADD7B2AB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B616B"/>
                </a:solidFill>
              </a:defRPr>
            </a:pPr>
            <a:r>
              <a:rPr sz="975" b="1">
                <a:solidFill>
                  <a:srgbClr val="5B616B"/>
                </a:solidFill>
              </a:rPr>
              <a:t>T06 · 具体操作 · 工具与入口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7EE738-BC1F-41F6-96A1-BAC16ED06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0C4B92-D61A-45F9-B3FB-159770601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198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B616B"/>
                </a:solidFill>
              </a:defRPr>
            </a:pPr>
            <a:r>
              <a:rPr sz="900" b="0">
                <a:solidFill>
                  <a:srgbClr val="5B616B"/>
                </a:solidFill>
              </a:rPr>
              <a:t>47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02E891-1A62-434E-896A-6A0F9D561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T06：综合任务从需求入口一直追溯到交付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99037F-4477-487C-AD48-3039F180D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52578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39B4CA-94E6-4116-8924-02604A09D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05000"/>
            <a:ext cx="54864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E2D6BA-CC69-4913-A634-03AA971E3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项目与文档入口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013190-B0B5-45D5-BBE9-987BEB898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098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6FB637-1B86-406C-A5B9-3B92EE9DC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67000"/>
            <a:ext cx="4210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s2-t06-start / group-XX/t06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11221E-A2AC-45A8-869A-98BDAB781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004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4F0342-C355-4D58-BD2E-768AD8C2C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57550"/>
            <a:ext cx="4210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T06任务卡、已批准 Spec、UI契约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2B7617-FB1B-4FBB-9D51-95EA67A6D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909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6DF56E-A633-43D6-9550-5A33AB54A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48100"/>
            <a:ext cx="4210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architecture、AGENTS、STANDARDS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62E5F3-3AA1-4320-BF37-913296954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815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19EFA1-110F-49C6-B007-0594E11C4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38650"/>
            <a:ext cx="4210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盘点/库存代码、API示例与19条测试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A2C1E7-1178-448B-95E1-43252F3C1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95500"/>
            <a:ext cx="466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3D8DFF"/>
                </a:solidFill>
              </a:defRPr>
            </a:pPr>
            <a:r>
              <a:rPr sz="1875" b="1">
                <a:solidFill>
                  <a:srgbClr val="3D8DFF"/>
                </a:solidFill>
              </a:rPr>
              <a:t>AI、验证与证据入口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62DF67-C8C3-429B-ABE7-30AF3A1D1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098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9B1E03-EC94-434C-AD4E-67457F1BF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667000"/>
            <a:ext cx="440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完整五步Skills与三个人工审核门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2C2385-32A7-49E9-A555-CD83E856E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004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1CD614-B7C4-4CB5-903D-12C7391F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257550"/>
            <a:ext cx="440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UI草图/截图用于契约评审和演示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F5F157-ED0A-49ED-8AEE-B6F3646F9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909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B5098F-3A7D-4433-AC8F-77A9B323A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48100"/>
            <a:ext cx="440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Spec 审批记录、Tickets、验证日志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2FD421-2C9B-4ADC-9F4E-152EBDFEF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5815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7E0BF9-248D-4D1E-8406-9F9887B61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438650"/>
            <a:ext cx="440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规则—代码—测试—结果证据矩阵</a:t>
            </a:r>
          </a:p>
        </p:txBody>
      </p:sp>
    </p:spTree>
    <p:extLst>
      <p:ext uri="{BB962C8B-B14F-4D97-AF65-F5344CB8AC3E}">
        <p14:creationId xmlns:p14="http://schemas.microsoft.com/office/powerpoint/2010/main" val="547061465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E95D05-9987-48FF-A737-2368CDC5F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B616B"/>
                </a:solidFill>
              </a:defRPr>
            </a:pPr>
            <a:r>
              <a:rPr sz="975" b="1">
                <a:solidFill>
                  <a:srgbClr val="5B616B"/>
                </a:solidFill>
              </a:rPr>
              <a:t>T06 · 具体操作 · 约束与限制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946F26-F55C-4367-9F7B-142E63512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F49026-A750-46B6-9F20-B8468C369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198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B616B"/>
                </a:solidFill>
              </a:defRPr>
            </a:pPr>
            <a:r>
              <a:rPr sz="900" b="0">
                <a:solidFill>
                  <a:srgbClr val="5B616B"/>
                </a:solidFill>
              </a:rPr>
              <a:t>48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386817-E76D-40B4-B54F-C4C62AA18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T06：边界、停止条件和验收门槛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066C9F-6053-4643-B9A1-AB81F56E2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952625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3D8DFF"/>
                </a:solidFill>
              </a:defRPr>
            </a:pPr>
            <a:r>
              <a:rPr sz="1875" b="1">
                <a:solidFill>
                  <a:srgbClr val="3D8DFF"/>
                </a:solidFill>
              </a:rPr>
              <a:t>允许修改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173CC6-0B1B-4227-A19E-81C12AF50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52625"/>
            <a:ext cx="752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B616B"/>
                </a:solidFill>
              </a:defRPr>
            </a:pPr>
            <a:r>
              <a:rPr sz="1575" b="0">
                <a:solidFill>
                  <a:srgbClr val="5B616B"/>
                </a:solidFill>
              </a:rPr>
              <a:t>business-wms盘点/库存入口、Web API与集成测试；平台只读复用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1681C8-0555-4668-8140-0D57EFA66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38425"/>
            <a:ext cx="10239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7F50C2-DA6C-4EBB-81DE-F2A0C59A3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05125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禁止事项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4F3D80-0F65-46ED-BE26-D23895C58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905125"/>
            <a:ext cx="752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B616B"/>
                </a:solidFill>
              </a:defRPr>
            </a:pPr>
            <a:r>
              <a:rPr sz="1575" b="0">
                <a:solidFill>
                  <a:srgbClr val="5B616B"/>
                </a:solidFill>
              </a:rPr>
              <a:t>不越权改平台，不跳过审批，不覆盖预占，不用截图代替库存断言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D6FE92-3891-416F-A425-19B98907A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590925"/>
            <a:ext cx="10239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7C9571-CCDB-4392-8A9B-A28CD60F9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857625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停止条件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FBECE8-F5FB-4C42-86DC-0664F15DD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857625"/>
            <a:ext cx="752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B616B"/>
                </a:solidFill>
              </a:defRPr>
            </a:pPr>
            <a:r>
              <a:rPr sz="1575" b="0">
                <a:solidFill>
                  <a:srgbClr val="5B616B"/>
                </a:solidFill>
              </a:rPr>
              <a:t>实盘含义、快照冲突、审批时点、UI/API契约任一未批准即BLOCKED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872733-EDE5-49E2-BBE9-AFF31B1C2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43425"/>
            <a:ext cx="10239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643C74-EF78-4376-A6A3-5E6E0469E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810125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验收门槛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B2DA0A-FC16-438A-8A4D-7D824915B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810125"/>
            <a:ext cx="752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B616B"/>
                </a:solidFill>
              </a:defRPr>
            </a:pPr>
            <a:r>
              <a:rPr sz="1575" b="0">
                <a:solidFill>
                  <a:srgbClr val="5B616B"/>
                </a:solidFill>
              </a:rPr>
              <a:t>正常/冲突/重放/回滚证据齐全，Spec与Standards双轴无阻塞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C74D18-43A7-4234-BB74-8A3FE49BE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95925"/>
            <a:ext cx="10239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64328520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E95D05-9987-48FF-A737-2368CDC5F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B616B"/>
                </a:solidFill>
              </a:defRPr>
            </a:pPr>
            <a:r>
              <a:rPr sz="975" b="1">
                <a:solidFill>
                  <a:srgbClr val="5B616B"/>
                </a:solidFill>
              </a:rPr>
              <a:t>期望结果 · T06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946F26-F55C-4367-9F7B-142E63512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F49026-A750-46B6-9F20-B8468C369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198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B616B"/>
                </a:solidFill>
              </a:defRPr>
            </a:pPr>
            <a:r>
              <a:rPr sz="900" b="0">
                <a:solidFill>
                  <a:srgbClr val="5B616B"/>
                </a:solidFill>
              </a:rPr>
              <a:t>49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386817-E76D-40B4-B54F-C4C62AA18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可以放行的不是代码，而是完整、可追溯的证据链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066C9F-6053-4643-B9A1-AB81F56E2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952625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3D8DFF"/>
                </a:solidFill>
              </a:defRPr>
            </a:pPr>
            <a:r>
              <a:rPr sz="1875" b="1">
                <a:solidFill>
                  <a:srgbClr val="3D8DFF"/>
                </a:solidFill>
              </a:rPr>
              <a:t>业务行为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173CC6-0B1B-4227-A19E-81C12AF50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52625"/>
            <a:ext cx="752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B616B"/>
                </a:solidFill>
              </a:defRPr>
            </a:pPr>
            <a:r>
              <a:rPr sz="1575" b="0">
                <a:solidFill>
                  <a:srgbClr val="5B616B"/>
                </a:solidFill>
              </a:rPr>
              <a:t>创建盘点只生成快照；审批才调整库存，且实盘数不能小于预占。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1681C8-0555-4668-8140-0D57EFA66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38425"/>
            <a:ext cx="10239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7F50C2-DA6C-4EBB-81DE-F2A0C59A3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05125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异常边界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4F3D80-0F65-46ED-BE26-D23895C58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905125"/>
            <a:ext cx="752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B616B"/>
                </a:solidFill>
              </a:defRPr>
            </a:pPr>
            <a:r>
              <a:rPr sz="1575" b="0">
                <a:solidFill>
                  <a:srgbClr val="5B616B"/>
                </a:solidFill>
              </a:rPr>
              <a:t>过期快照拒绝；单据与库存同成同败；重复审批不重复调整。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D6FE92-3891-416F-A425-19B98907A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590925"/>
            <a:ext cx="10239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7C9571-CCDB-4392-8A9B-A28CD60F9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857625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工程质量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FBECE8-F5FB-4C42-86DC-0664F15DD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857625"/>
            <a:ext cx="752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B616B"/>
                </a:solidFill>
              </a:defRPr>
            </a:pPr>
            <a:r>
              <a:rPr sz="1575" b="0">
                <a:solidFill>
                  <a:srgbClr val="5B616B"/>
                </a:solidFill>
              </a:rPr>
              <a:t>审计可追溯，平台和事业部边界不漂移，Spec 与 Standards 分别结论。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872733-EDE5-49E2-BBE9-AFF31B1C2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43425"/>
            <a:ext cx="10239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643C74-EF78-4376-A6A3-5E6E0469E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810125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验收证据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B2DA0A-FC16-438A-8A4D-7D824915B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810125"/>
            <a:ext cx="752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B616B"/>
                </a:solidFill>
              </a:defRPr>
            </a:pPr>
            <a:r>
              <a:rPr sz="1575" b="0">
                <a:solidFill>
                  <a:srgbClr val="5B616B"/>
                </a:solidFill>
              </a:rPr>
              <a:t>完整答案为 16 个业务测试 + 3 个平台测试，并列出剩余风险。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C74D18-43A7-4234-BB74-8A3FE49BE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95925"/>
            <a:ext cx="10239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64328520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E95D05-9987-48FF-A737-2368CDC5F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B616B"/>
                </a:solidFill>
              </a:defRPr>
            </a:pPr>
            <a:r>
              <a:rPr sz="975" b="1">
                <a:solidFill>
                  <a:srgbClr val="5B616B"/>
                </a:solidFill>
              </a:rPr>
              <a:t>课程收束 · 交付检查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946F26-F55C-4367-9F7B-142E63512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F49026-A750-46B6-9F20-B8468C369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198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B616B"/>
                </a:solidFill>
              </a:defRPr>
            </a:pPr>
            <a:r>
              <a:rPr sz="900" b="0">
                <a:solidFill>
                  <a:srgbClr val="5B616B"/>
                </a:solidFill>
              </a:rPr>
              <a:t>50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386817-E76D-40B4-B54F-C4C62AA18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每次完成，都必须留下四类答案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066C9F-6053-4643-B9A1-AB81F56E2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952625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3D8DFF"/>
                </a:solidFill>
              </a:defRPr>
            </a:pPr>
            <a:r>
              <a:rPr sz="1875" b="1">
                <a:solidFill>
                  <a:srgbClr val="3D8DFF"/>
                </a:solidFill>
              </a:rPr>
              <a:t>边界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173CC6-0B1B-4227-A19E-81C12AF50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52625"/>
            <a:ext cx="752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B616B"/>
                </a:solidFill>
              </a:defRPr>
            </a:pPr>
            <a:r>
              <a:rPr sz="1575" b="0">
                <a:solidFill>
                  <a:srgbClr val="5B616B"/>
                </a:solidFill>
              </a:rPr>
              <a:t>谁负责、允许改什么、哪些契约不能越过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1681C8-0555-4668-8140-0D57EFA66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38425"/>
            <a:ext cx="10239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7F50C2-DA6C-4EBB-81DE-F2A0C59A3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05125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Spec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4F3D80-0F65-46ED-BE26-D23895C58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905125"/>
            <a:ext cx="752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B616B"/>
                </a:solidFill>
              </a:defRPr>
            </a:pPr>
            <a:r>
              <a:rPr sz="1575" b="0">
                <a:solidFill>
                  <a:srgbClr val="5B616B"/>
                </a:solidFill>
              </a:rPr>
              <a:t>依据哪版需求、设计和 Standards 实施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D6FE92-3891-416F-A425-19B98907A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590925"/>
            <a:ext cx="10239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7C9571-CCDB-4392-8A9B-A28CD60F9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857625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证据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FBECE8-F5FB-4C42-86DC-0664F15DD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857625"/>
            <a:ext cx="752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B616B"/>
                </a:solidFill>
              </a:defRPr>
            </a:pPr>
            <a:r>
              <a:rPr sz="1575" b="0">
                <a:solidFill>
                  <a:srgbClr val="5B616B"/>
                </a:solidFill>
              </a:rPr>
              <a:t>哪些测试证明哪些规则，实际结果是什么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872733-EDE5-49E2-BBE9-AFF31B1C2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43425"/>
            <a:ext cx="10239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643C74-EF78-4376-A6A3-5E6E0469E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810125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裁决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B2DA0A-FC16-438A-8A4D-7D824915B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810125"/>
            <a:ext cx="752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B616B"/>
                </a:solidFill>
              </a:defRPr>
            </a:pPr>
            <a:r>
              <a:rPr sz="1575" b="0">
                <a:solidFill>
                  <a:srgbClr val="5B616B"/>
                </a:solidFill>
              </a:rPr>
              <a:t>谁批准了偏差与例外，哪些风险尚未关闭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C74D18-43A7-4234-BB74-8A3FE49BE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95925"/>
            <a:ext cx="10239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1C8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64328520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27F61F-5372-43DF-B8B5-611B05006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最终目标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012AA7-7392-45FA-9ECA-9B6F8465E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287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让 AI 承担执行，</a:t>
            </a:r>
          </a:p>
          <a:p xmlns:a="http://schemas.openxmlformats.org/drawingml/2006/main">
            <a:pPr algn="l">
              <a:buNone/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让标准、Spec与证据守住质量。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FCFFA1-349E-44E1-8301-EF0523BF8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8625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CDD1D6"/>
                </a:solidFill>
              </a:defRPr>
            </a:pPr>
            <a:r>
              <a:rPr sz="1800" b="0">
                <a:solidFill>
                  <a:srgbClr val="CDD1D6"/>
                </a:solidFill>
              </a:rPr>
              <a:t>文档建上下文 · Skills 推流程 · 双轴做评审 · 人工负责任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F480C7-E199-49E3-A73E-40C4CDD2F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714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601900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2026-09-01T14:45:41.0330000Z</dcterms:created>
  <dcterms:modified xsi:type="dcterms:W3CDTF">2026-09-01T14:45:41.0330000Z</dcterms:modified>
</coreProperties>
</file>